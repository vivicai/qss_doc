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78" r:id="rId2"/>
    <p:sldId id="392" r:id="rId3"/>
    <p:sldId id="411" r:id="rId4"/>
    <p:sldId id="395" r:id="rId5"/>
    <p:sldId id="400" r:id="rId6"/>
    <p:sldId id="410" r:id="rId7"/>
    <p:sldId id="409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57">
          <p15:clr>
            <a:srgbClr val="A4A3A4"/>
          </p15:clr>
        </p15:guide>
        <p15:guide id="2" pos="4151">
          <p15:clr>
            <a:srgbClr val="A4A3A4"/>
          </p15:clr>
        </p15:guide>
        <p15:guide id="3" pos="499">
          <p15:clr>
            <a:srgbClr val="A4A3A4"/>
          </p15:clr>
        </p15:guide>
        <p15:guide id="4" orient="horz" pos="709">
          <p15:clr>
            <a:srgbClr val="A4A3A4"/>
          </p15:clr>
        </p15:guide>
        <p15:guide id="5" pos="5155">
          <p15:clr>
            <a:srgbClr val="A4A3A4"/>
          </p15:clr>
        </p15:guide>
        <p15:guide id="6" pos="467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A447"/>
    <a:srgbClr val="B48981"/>
    <a:srgbClr val="776E80"/>
    <a:srgbClr val="3DAAA0"/>
    <a:srgbClr val="C7E3F5"/>
    <a:srgbClr val="9DCFED"/>
    <a:srgbClr val="80C0E8"/>
    <a:srgbClr val="59ADE1"/>
    <a:srgbClr val="3FA1DD"/>
    <a:srgbClr val="B0D9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59" autoAdjust="0"/>
    <p:restoredTop sz="98131" autoAdjust="0"/>
  </p:normalViewPr>
  <p:slideViewPr>
    <p:cSldViewPr snapToGrid="0">
      <p:cViewPr varScale="1">
        <p:scale>
          <a:sx n="74" d="100"/>
          <a:sy n="74" d="100"/>
        </p:scale>
        <p:origin x="492" y="66"/>
      </p:cViewPr>
      <p:guideLst>
        <p:guide orient="horz" pos="1057"/>
        <p:guide pos="4151"/>
        <p:guide pos="499"/>
        <p:guide orient="horz" pos="709"/>
        <p:guide pos="5155"/>
        <p:guide pos="467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8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DIY</a:t>
            </a:r>
            <a:r>
              <a:rPr lang="zh-CN" altLang="en-US"/>
              <a:t>整体上线状态</a:t>
            </a:r>
          </a:p>
        </c:rich>
      </c:tx>
      <c:layout>
        <c:manualLayout>
          <c:xMode val="edge"/>
          <c:yMode val="edge"/>
          <c:x val="0.35931516107231398"/>
          <c:y val="1.1020548731488901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8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1.6171976024961288E-2"/>
          <c:y val="0.13947881988290667"/>
          <c:w val="0.97265149808515405"/>
          <c:h val="0.79008150614165995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已完成</c:v>
                </c:pt>
              </c:strCache>
            </c:strRef>
          </c:tx>
          <c:spPr>
            <a:pattFill prst="narHorz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1"/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Sheet1!$C$18:$C$27</c:f>
              <c:numCache>
                <c:formatCode>General</c:formatCode>
                <c:ptCount val="10"/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9.8000000000000007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待完成</c:v>
                </c:pt>
              </c:strCache>
            </c:strRef>
          </c:tx>
          <c:spPr>
            <a:pattFill prst="narHorz">
              <a:fgClr>
                <a:schemeClr val="accent2"/>
              </a:fgClr>
              <a:bgClr>
                <a:schemeClr val="accent2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2"/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Sheet1!$C$18:$C$27</c:f>
              <c:numCache>
                <c:formatCode>General</c:formatCode>
                <c:ptCount val="10"/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0.2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445702896"/>
        <c:axId val="445711600"/>
      </c:barChart>
      <c:catAx>
        <c:axId val="44570289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45711600"/>
        <c:crosses val="autoZero"/>
        <c:auto val="1"/>
        <c:lblAlgn val="ctr"/>
        <c:lblOffset val="100"/>
        <c:noMultiLvlLbl val="0"/>
      </c:catAx>
      <c:valAx>
        <c:axId val="445711600"/>
        <c:scaling>
          <c:orientation val="minMax"/>
        </c:scaling>
        <c:delete val="0"/>
        <c:axPos val="b"/>
        <c:majorGridlines>
          <c:spPr>
            <a:ln>
              <a:solidFill>
                <a:schemeClr val="tx1">
                  <a:lumMod val="15000"/>
                  <a:lumOff val="85000"/>
                </a:schemeClr>
              </a:solidFill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45702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49121423744087"/>
          <c:y val="8.6212834347376893E-2"/>
          <c:w val="0.19756701959900899"/>
          <c:h val="8.32281023992653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pattFill prst="ltDn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>
        <a:solidFill>
          <a:schemeClr val="phClr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BC92C-9244-456F-99CB-429749FEC58A}" type="datetimeFigureOut">
              <a:rPr lang="zh-CN" altLang="en-US" smtClean="0"/>
              <a:t>2017/7/5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A634EC-9969-497C-8A3A-339D48BDBC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088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A634EC-9969-497C-8A3A-339D48BDBCB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639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A634EC-9969-497C-8A3A-339D48BDBCB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845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A634EC-9969-497C-8A3A-339D48BDBCB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475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A634EC-9969-497C-8A3A-339D48BDBCB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746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A634EC-9969-497C-8A3A-339D48BDBCB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33712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A634EC-9969-497C-8A3A-339D48BDBCB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533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57FCE-B695-4179-8C96-2978C3207FBA}" type="datetime1">
              <a:rPr lang="zh-CN" altLang="en-US" smtClean="0"/>
              <a:t>2017/7/5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C44D-BADB-438C-891A-0E9573948B2C}" type="datetime1">
              <a:rPr lang="zh-CN" altLang="en-US" smtClean="0"/>
              <a:t>2017/7/5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1691F-7A24-4268-9DD6-92342410E71D}" type="datetime1">
              <a:rPr lang="zh-CN" altLang="en-US" smtClean="0"/>
              <a:t>2017/7/5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4F50-0AB1-4EB1-8122-075B25F7D6FB}" type="datetime1">
              <a:rPr lang="zh-CN" altLang="en-US" smtClean="0"/>
              <a:t>2017/7/5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CC694-3086-48A4-BA9A-8406044FE57B}" type="datetime1">
              <a:rPr lang="zh-CN" altLang="en-US" smtClean="0"/>
              <a:t>2017/7/5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EAC37-9C26-4DB2-A318-BED587A8B794}" type="datetime1">
              <a:rPr lang="zh-CN" altLang="en-US" smtClean="0"/>
              <a:t>2017/7/5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7E0C6-5756-4B06-854F-3BA6A3B8928C}" type="datetime1">
              <a:rPr lang="zh-CN" altLang="en-US" smtClean="0"/>
              <a:t>2017/7/5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96BE-7E15-4090-86DC-F44F78F2DFB0}" type="datetime1">
              <a:rPr lang="zh-CN" altLang="en-US" smtClean="0"/>
              <a:t>2017/7/5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D4F9-C8F3-4B27-A444-DCB3A5F13130}" type="datetime1">
              <a:rPr lang="zh-CN" altLang="en-US" smtClean="0"/>
              <a:t>2017/7/5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F6069-4040-4EAC-B41C-B5F3C484F785}" type="datetime1">
              <a:rPr lang="zh-CN" altLang="en-US" smtClean="0"/>
              <a:t>2017/7/5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CBF8C-C3E5-4CD6-A55D-7CF4DAC48690}" type="datetime1">
              <a:rPr lang="zh-CN" altLang="en-US" smtClean="0"/>
              <a:t>2017/7/5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86425" y="300039"/>
            <a:ext cx="8412607" cy="606361"/>
          </a:xfrm>
          <a:prstGeom prst="rect">
            <a:avLst/>
          </a:prstGeom>
        </p:spPr>
        <p:txBody>
          <a:bodyPr anchor="ctr"/>
          <a:lstStyle>
            <a:lvl1pPr>
              <a:defRPr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1380572" y="6319280"/>
            <a:ext cx="580769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3714" y="287847"/>
            <a:ext cx="1416250" cy="61855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 flipH="1">
            <a:off x="1840706" y="300039"/>
            <a:ext cx="45719" cy="618553"/>
          </a:xfrm>
          <a:prstGeom prst="rect">
            <a:avLst/>
          </a:prstGeom>
          <a:solidFill>
            <a:srgbClr val="448D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rgbClr val="65A0C4"/>
              </a:solidFill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sz="quarter" idx="12"/>
          </p:nvPr>
        </p:nvSpPr>
        <p:spPr>
          <a:xfrm>
            <a:off x="794738" y="1206417"/>
            <a:ext cx="10450297" cy="19899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rgbClr val="343434"/>
                </a:solidFill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4856" y="300039"/>
            <a:ext cx="1616485" cy="536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42901" y="236025"/>
            <a:ext cx="11506198" cy="770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1" y="1422400"/>
            <a:ext cx="11506198" cy="4644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66A957-69F8-456E-B862-FB743A2D5258}" type="datetime1">
              <a:rPr lang="zh-CN" altLang="en-US" smtClean="0"/>
              <a:t>2017/7/5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CEBF1-E09E-4C9D-88C1-61BEB77D5A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rgbClr val="004C9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Segoe UI Light" panose="020B0502040204020203" pitchFamily="34" charset="0"/>
        <a:buChar char="⁄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Segoe UI Light" panose="020B0502040204020203" pitchFamily="34" charset="0"/>
        <a:buChar char="›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Segoe UI Light" panose="020B0502040204020203" pitchFamily="34" charset="0"/>
        <a:buChar char="₋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520719" cy="2387600"/>
          </a:xfrm>
        </p:spPr>
        <p:txBody>
          <a:bodyPr>
            <a:normAutofit/>
          </a:bodyPr>
          <a:lstStyle/>
          <a:p>
            <a:r>
              <a:rPr lang="en-US" altLang="zh-CN" sz="4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Haier</a:t>
            </a:r>
            <a:r>
              <a:rPr lang="zh-CN" altLang="en-US" sz="4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用户定制应用分析支持项目周例会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analyticservice.net</a:t>
            </a: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2017-07-06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项目整体开发状态</a:t>
            </a:r>
            <a:endParaRPr lang="zh-CN" altLang="en-US" dirty="0"/>
          </a:p>
        </p:txBody>
      </p:sp>
      <p:graphicFrame>
        <p:nvGraphicFramePr>
          <p:cNvPr id="3" name="图表 2"/>
          <p:cNvGraphicFramePr/>
          <p:nvPr>
            <p:extLst>
              <p:ext uri="{D42A27DB-BD31-4B8C-83A1-F6EECF244321}">
                <p14:modId xmlns:p14="http://schemas.microsoft.com/office/powerpoint/2010/main" val="2804499168"/>
              </p:ext>
            </p:extLst>
          </p:nvPr>
        </p:nvGraphicFramePr>
        <p:xfrm>
          <a:off x="1310640" y="953770"/>
          <a:ext cx="11275060" cy="55314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47320" y="1790700"/>
            <a:ext cx="960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驾驶舱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32080" y="2219960"/>
            <a:ext cx="1188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用户画像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6680" y="2682240"/>
            <a:ext cx="1478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用户群画像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21920" y="3108960"/>
            <a:ext cx="1188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产品画像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47320" y="3931920"/>
            <a:ext cx="1188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舆情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06680" y="3535680"/>
            <a:ext cx="1341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设计师画像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16840" y="4406900"/>
            <a:ext cx="1605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订单全流程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37160" y="4846320"/>
            <a:ext cx="1188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竞品分析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37160" y="5303520"/>
            <a:ext cx="1188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推荐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52400" y="5745480"/>
            <a:ext cx="1188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报表分析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项目开发状态明细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263650" y="867346"/>
            <a:ext cx="1029271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400" dirty="0">
                <a:sym typeface="+mn-ea"/>
              </a:rPr>
              <a:t>1、驾驶舱                                                          </a:t>
            </a:r>
            <a:r>
              <a:rPr lang="zh-CN" sz="1400" dirty="0">
                <a:sym typeface="+mn-ea"/>
              </a:rPr>
              <a:t>已</a:t>
            </a:r>
            <a:r>
              <a:rPr sz="1400" dirty="0" err="1">
                <a:sym typeface="+mn-ea"/>
              </a:rPr>
              <a:t>完成该上线及优化</a:t>
            </a:r>
            <a:r>
              <a:rPr sz="1400" dirty="0">
                <a:sym typeface="+mn-ea"/>
              </a:rPr>
              <a:t>      </a:t>
            </a:r>
          </a:p>
          <a:p>
            <a:pPr algn="l"/>
            <a:r>
              <a:rPr sz="1400" dirty="0">
                <a:sym typeface="+mn-ea"/>
              </a:rPr>
              <a:t>2、用户画像         </a:t>
            </a:r>
          </a:p>
          <a:p>
            <a:pPr algn="l"/>
            <a:r>
              <a:rPr sz="1400" dirty="0" err="1">
                <a:sym typeface="+mn-ea"/>
              </a:rPr>
              <a:t>前端展示bug修改、优化</a:t>
            </a:r>
            <a:r>
              <a:rPr sz="1400" dirty="0">
                <a:sym typeface="+mn-ea"/>
              </a:rPr>
              <a:t>                                    </a:t>
            </a:r>
            <a:r>
              <a:rPr sz="1400" dirty="0" smtClean="0">
                <a:sym typeface="+mn-ea"/>
              </a:rPr>
              <a:t> </a:t>
            </a:r>
            <a:r>
              <a:rPr sz="1400" dirty="0">
                <a:sym typeface="+mn-ea"/>
              </a:rPr>
              <a:t>   </a:t>
            </a:r>
            <a:r>
              <a:rPr lang="zh-CN" altLang="en-US" sz="1400" dirty="0" smtClean="0">
                <a:sym typeface="+mn-ea"/>
              </a:rPr>
              <a:t>一轮</a:t>
            </a:r>
            <a:r>
              <a:rPr lang="en-US" altLang="zh-CN" sz="1400" dirty="0" smtClean="0">
                <a:sym typeface="+mn-ea"/>
              </a:rPr>
              <a:t>UAT</a:t>
            </a:r>
            <a:r>
              <a:rPr lang="zh-CN" altLang="en-US" sz="1400" dirty="0" smtClean="0">
                <a:sym typeface="+mn-ea"/>
              </a:rPr>
              <a:t>优化完成</a:t>
            </a:r>
            <a:endParaRPr sz="1400" dirty="0">
              <a:sym typeface="+mn-ea"/>
            </a:endParaRPr>
          </a:p>
          <a:p>
            <a:pPr algn="l"/>
            <a:r>
              <a:rPr sz="1400" dirty="0" err="1">
                <a:sym typeface="+mn-ea"/>
              </a:rPr>
              <a:t>数据bug修改、优化</a:t>
            </a:r>
            <a:r>
              <a:rPr sz="1400" dirty="0">
                <a:sym typeface="+mn-ea"/>
              </a:rPr>
              <a:t>                                            </a:t>
            </a:r>
            <a:r>
              <a:rPr lang="en-US" sz="1400" dirty="0" smtClean="0">
                <a:sym typeface="+mn-ea"/>
              </a:rPr>
              <a:t>   </a:t>
            </a:r>
            <a:r>
              <a:rPr lang="zh-CN" altLang="en-US" sz="1400" dirty="0" smtClean="0">
                <a:sym typeface="+mn-ea"/>
              </a:rPr>
              <a:t>一轮</a:t>
            </a:r>
            <a:r>
              <a:rPr lang="en-US" altLang="zh-CN" sz="1400" dirty="0" smtClean="0">
                <a:sym typeface="+mn-ea"/>
              </a:rPr>
              <a:t>UAT</a:t>
            </a:r>
            <a:r>
              <a:rPr lang="zh-CN" altLang="en-US" sz="1400" dirty="0" smtClean="0">
                <a:sym typeface="+mn-ea"/>
              </a:rPr>
              <a:t>优化完成</a:t>
            </a:r>
            <a:endParaRPr sz="1400" dirty="0">
              <a:sym typeface="+mn-ea"/>
            </a:endParaRPr>
          </a:p>
          <a:p>
            <a:pPr algn="l"/>
            <a:r>
              <a:rPr sz="1400" dirty="0">
                <a:sym typeface="+mn-ea"/>
              </a:rPr>
              <a:t>3、用户群画像      </a:t>
            </a:r>
          </a:p>
          <a:p>
            <a:pPr algn="l"/>
            <a:r>
              <a:rPr sz="1400" dirty="0" err="1">
                <a:sym typeface="+mn-ea"/>
              </a:rPr>
              <a:t>端展示bug修改、优化</a:t>
            </a:r>
            <a:r>
              <a:rPr sz="1400" dirty="0">
                <a:sym typeface="+mn-ea"/>
              </a:rPr>
              <a:t>                                       </a:t>
            </a:r>
            <a:r>
              <a:rPr lang="en-US" sz="1400" dirty="0" smtClean="0">
                <a:sym typeface="+mn-ea"/>
              </a:rPr>
              <a:t>  </a:t>
            </a:r>
            <a:r>
              <a:rPr sz="1400" dirty="0" smtClean="0">
                <a:sym typeface="+mn-ea"/>
              </a:rPr>
              <a:t> </a:t>
            </a:r>
            <a:r>
              <a:rPr lang="en-US" sz="1400" dirty="0" smtClean="0">
                <a:sym typeface="+mn-ea"/>
              </a:rPr>
              <a:t>  </a:t>
            </a:r>
            <a:r>
              <a:rPr lang="zh-CN" altLang="en-US" sz="1400" dirty="0" smtClean="0">
                <a:sym typeface="+mn-ea"/>
              </a:rPr>
              <a:t>一轮</a:t>
            </a:r>
            <a:r>
              <a:rPr lang="en-US" altLang="zh-CN" sz="1400" dirty="0" smtClean="0">
                <a:sym typeface="+mn-ea"/>
              </a:rPr>
              <a:t>UAT</a:t>
            </a:r>
            <a:r>
              <a:rPr lang="zh-CN" altLang="en-US" sz="1400" dirty="0" smtClean="0">
                <a:sym typeface="+mn-ea"/>
              </a:rPr>
              <a:t>优化完成</a:t>
            </a:r>
            <a:r>
              <a:rPr sz="1400" dirty="0">
                <a:sym typeface="+mn-ea"/>
              </a:rPr>
              <a:t>   </a:t>
            </a:r>
          </a:p>
          <a:p>
            <a:pPr algn="l"/>
            <a:r>
              <a:rPr sz="1400" dirty="0" err="1">
                <a:sym typeface="+mn-ea"/>
              </a:rPr>
              <a:t>据bug修改、优化</a:t>
            </a:r>
            <a:r>
              <a:rPr sz="1400" dirty="0">
                <a:sym typeface="+mn-ea"/>
              </a:rPr>
              <a:t>                                               </a:t>
            </a:r>
            <a:r>
              <a:rPr lang="en-US" sz="1400" dirty="0" smtClean="0">
                <a:sym typeface="+mn-ea"/>
              </a:rPr>
              <a:t>    </a:t>
            </a:r>
            <a:r>
              <a:rPr lang="zh-CN" altLang="en-US" sz="1400" dirty="0" smtClean="0">
                <a:sym typeface="+mn-ea"/>
              </a:rPr>
              <a:t>一轮</a:t>
            </a:r>
            <a:r>
              <a:rPr lang="en-US" altLang="zh-CN" sz="1400" dirty="0" smtClean="0">
                <a:sym typeface="+mn-ea"/>
              </a:rPr>
              <a:t>UAT</a:t>
            </a:r>
            <a:r>
              <a:rPr lang="zh-CN" altLang="en-US" sz="1400" dirty="0" smtClean="0">
                <a:sym typeface="+mn-ea"/>
              </a:rPr>
              <a:t>优化完成</a:t>
            </a:r>
            <a:endParaRPr lang="en-US" altLang="zh-CN" sz="1400" dirty="0" smtClean="0">
              <a:sym typeface="+mn-ea"/>
            </a:endParaRPr>
          </a:p>
          <a:p>
            <a:pPr algn="l"/>
            <a:r>
              <a:rPr sz="1400" dirty="0" smtClean="0">
                <a:sym typeface="+mn-ea"/>
              </a:rPr>
              <a:t>4</a:t>
            </a:r>
            <a:r>
              <a:rPr sz="1400" dirty="0">
                <a:sym typeface="+mn-ea"/>
              </a:rPr>
              <a:t>、设计师画像     </a:t>
            </a:r>
          </a:p>
          <a:p>
            <a:pPr algn="l"/>
            <a:r>
              <a:rPr sz="1400" dirty="0" err="1">
                <a:sym typeface="+mn-ea"/>
              </a:rPr>
              <a:t>前端展示bug修改、优化</a:t>
            </a:r>
            <a:r>
              <a:rPr sz="1400" dirty="0">
                <a:sym typeface="+mn-ea"/>
              </a:rPr>
              <a:t>                                    </a:t>
            </a:r>
            <a:r>
              <a:rPr lang="en-US" sz="1400" dirty="0" smtClean="0">
                <a:sym typeface="+mn-ea"/>
              </a:rPr>
              <a:t>     </a:t>
            </a:r>
            <a:r>
              <a:rPr lang="zh-CN" altLang="en-US" sz="1400" dirty="0" smtClean="0">
                <a:sym typeface="+mn-ea"/>
              </a:rPr>
              <a:t>一轮</a:t>
            </a:r>
            <a:r>
              <a:rPr lang="en-US" altLang="zh-CN" sz="1400" dirty="0" smtClean="0">
                <a:sym typeface="+mn-ea"/>
              </a:rPr>
              <a:t>UAT</a:t>
            </a:r>
            <a:r>
              <a:rPr lang="zh-CN" altLang="en-US" sz="1400" dirty="0" smtClean="0">
                <a:sym typeface="+mn-ea"/>
              </a:rPr>
              <a:t>优化完成</a:t>
            </a:r>
            <a:r>
              <a:rPr sz="1400" dirty="0">
                <a:sym typeface="+mn-ea"/>
              </a:rPr>
              <a:t>    </a:t>
            </a:r>
          </a:p>
          <a:p>
            <a:pPr algn="l"/>
            <a:r>
              <a:rPr sz="1400" dirty="0" err="1">
                <a:sym typeface="+mn-ea"/>
              </a:rPr>
              <a:t>数据bug修改、优化</a:t>
            </a:r>
            <a:r>
              <a:rPr sz="1400" dirty="0">
                <a:sym typeface="+mn-ea"/>
              </a:rPr>
              <a:t>                                          </a:t>
            </a:r>
            <a:r>
              <a:rPr lang="en-US" sz="1400" dirty="0" smtClean="0">
                <a:sym typeface="+mn-ea"/>
              </a:rPr>
              <a:t>     </a:t>
            </a:r>
            <a:r>
              <a:rPr sz="1400" dirty="0" smtClean="0">
                <a:sym typeface="+mn-ea"/>
              </a:rPr>
              <a:t> </a:t>
            </a:r>
            <a:r>
              <a:rPr lang="zh-CN" altLang="en-US" sz="1400" dirty="0" smtClean="0">
                <a:sym typeface="+mn-ea"/>
              </a:rPr>
              <a:t>一轮</a:t>
            </a:r>
            <a:r>
              <a:rPr lang="en-US" altLang="zh-CN" sz="1400" dirty="0" smtClean="0">
                <a:sym typeface="+mn-ea"/>
              </a:rPr>
              <a:t>UAT</a:t>
            </a:r>
            <a:r>
              <a:rPr lang="zh-CN" altLang="en-US" sz="1400" dirty="0" smtClean="0">
                <a:sym typeface="+mn-ea"/>
              </a:rPr>
              <a:t>优化完成</a:t>
            </a:r>
            <a:r>
              <a:rPr sz="1400" dirty="0">
                <a:sym typeface="+mn-ea"/>
              </a:rPr>
              <a:t> </a:t>
            </a:r>
          </a:p>
          <a:p>
            <a:pPr algn="l"/>
            <a:r>
              <a:rPr sz="1400" dirty="0">
                <a:sym typeface="+mn-ea"/>
              </a:rPr>
              <a:t>5、产品画像                          </a:t>
            </a:r>
          </a:p>
          <a:p>
            <a:pPr algn="l"/>
            <a:r>
              <a:rPr sz="1400" dirty="0" err="1">
                <a:sym typeface="+mn-ea"/>
              </a:rPr>
              <a:t>前端展示bug修改、优化</a:t>
            </a:r>
            <a:r>
              <a:rPr sz="1400" dirty="0">
                <a:sym typeface="+mn-ea"/>
              </a:rPr>
              <a:t>                                    </a:t>
            </a:r>
            <a:r>
              <a:rPr lang="en-US" sz="1400" dirty="0">
                <a:sym typeface="+mn-ea"/>
              </a:rPr>
              <a:t> </a:t>
            </a:r>
            <a:r>
              <a:rPr lang="en-US" sz="1400" dirty="0" smtClean="0">
                <a:sym typeface="+mn-ea"/>
              </a:rPr>
              <a:t>    </a:t>
            </a:r>
            <a:r>
              <a:rPr lang="zh-CN" altLang="en-US" sz="1400" dirty="0" smtClean="0">
                <a:sym typeface="+mn-ea"/>
              </a:rPr>
              <a:t>一轮</a:t>
            </a:r>
            <a:r>
              <a:rPr lang="en-US" altLang="zh-CN" sz="1400" dirty="0" smtClean="0">
                <a:sym typeface="+mn-ea"/>
              </a:rPr>
              <a:t>UAT</a:t>
            </a:r>
            <a:r>
              <a:rPr lang="zh-CN" altLang="en-US" sz="1400" dirty="0" smtClean="0">
                <a:sym typeface="+mn-ea"/>
              </a:rPr>
              <a:t>优化完成</a:t>
            </a:r>
            <a:endParaRPr sz="1400" dirty="0">
              <a:sym typeface="+mn-ea"/>
            </a:endParaRPr>
          </a:p>
          <a:p>
            <a:pPr algn="l"/>
            <a:r>
              <a:rPr sz="1400" dirty="0" err="1">
                <a:sym typeface="+mn-ea"/>
              </a:rPr>
              <a:t>数据bug修改、优化</a:t>
            </a:r>
            <a:r>
              <a:rPr sz="1400" dirty="0">
                <a:sym typeface="+mn-ea"/>
              </a:rPr>
              <a:t>                                           </a:t>
            </a:r>
            <a:r>
              <a:rPr lang="en-US" sz="1400" dirty="0" smtClean="0">
                <a:sym typeface="+mn-ea"/>
              </a:rPr>
              <a:t>     </a:t>
            </a:r>
            <a:r>
              <a:rPr lang="zh-CN" altLang="en-US" sz="1400" dirty="0" smtClean="0">
                <a:sym typeface="+mn-ea"/>
              </a:rPr>
              <a:t>一轮</a:t>
            </a:r>
            <a:r>
              <a:rPr lang="en-US" altLang="zh-CN" sz="1400" dirty="0" smtClean="0">
                <a:sym typeface="+mn-ea"/>
              </a:rPr>
              <a:t>UAT</a:t>
            </a:r>
            <a:r>
              <a:rPr lang="zh-CN" altLang="en-US" sz="1400" dirty="0" smtClean="0">
                <a:sym typeface="+mn-ea"/>
              </a:rPr>
              <a:t>优化</a:t>
            </a:r>
            <a:endParaRPr lang="en-US" sz="1400" dirty="0" smtClean="0">
              <a:sym typeface="+mn-ea"/>
            </a:endParaRPr>
          </a:p>
          <a:p>
            <a:pPr algn="l"/>
            <a:r>
              <a:rPr sz="1400" dirty="0" smtClean="0">
                <a:sym typeface="+mn-ea"/>
              </a:rPr>
              <a:t>6</a:t>
            </a:r>
            <a:r>
              <a:rPr sz="1400" dirty="0">
                <a:sym typeface="+mn-ea"/>
              </a:rPr>
              <a:t>、舆情                                                             </a:t>
            </a:r>
            <a:r>
              <a:rPr lang="en-US" sz="1400" dirty="0">
                <a:sym typeface="+mn-ea"/>
              </a:rPr>
              <a:t> </a:t>
            </a:r>
            <a:r>
              <a:rPr lang="en-US" sz="1400" dirty="0" smtClean="0">
                <a:sym typeface="+mn-ea"/>
              </a:rPr>
              <a:t>     </a:t>
            </a:r>
            <a:r>
              <a:rPr lang="zh-CN" altLang="en-US" sz="1400" dirty="0" smtClean="0">
                <a:sym typeface="+mn-ea"/>
              </a:rPr>
              <a:t>代码合并及内测完成</a:t>
            </a:r>
            <a:endParaRPr lang="zh-CN" altLang="en-US" sz="1400" dirty="0">
              <a:sym typeface="+mn-ea"/>
            </a:endParaRPr>
          </a:p>
          <a:p>
            <a:pPr algn="l"/>
            <a:r>
              <a:rPr sz="1400" dirty="0">
                <a:sym typeface="+mn-ea"/>
              </a:rPr>
              <a:t>7、订单全流程                                                 </a:t>
            </a:r>
            <a:r>
              <a:rPr lang="en-US" sz="1400" dirty="0" smtClean="0">
                <a:sym typeface="+mn-ea"/>
              </a:rPr>
              <a:t>      </a:t>
            </a:r>
            <a:r>
              <a:rPr sz="1400" dirty="0" smtClean="0">
                <a:sym typeface="+mn-ea"/>
              </a:rPr>
              <a:t> </a:t>
            </a:r>
            <a:r>
              <a:rPr sz="1400" dirty="0" err="1">
                <a:sym typeface="+mn-ea"/>
              </a:rPr>
              <a:t>已上线运行</a:t>
            </a:r>
            <a:endParaRPr sz="1400" dirty="0">
              <a:sym typeface="+mn-ea"/>
            </a:endParaRPr>
          </a:p>
          <a:p>
            <a:pPr algn="l"/>
            <a:r>
              <a:rPr lang="en-US" sz="1400" dirty="0">
                <a:sym typeface="+mn-ea"/>
              </a:rPr>
              <a:t>8</a:t>
            </a:r>
            <a:r>
              <a:rPr sz="1400" dirty="0">
                <a:sym typeface="+mn-ea"/>
              </a:rPr>
              <a:t>、竞品分析   </a:t>
            </a:r>
            <a:r>
              <a:rPr lang="en-US" sz="1400" dirty="0" smtClean="0">
                <a:sym typeface="+mn-ea"/>
              </a:rPr>
              <a:t>                                                        </a:t>
            </a:r>
            <a:r>
              <a:rPr lang="zh-CN" altLang="en-US" sz="1400" dirty="0" smtClean="0">
                <a:sym typeface="+mn-ea"/>
              </a:rPr>
              <a:t>已发起第一轮</a:t>
            </a:r>
            <a:r>
              <a:rPr lang="en-US" altLang="zh-CN" sz="1400" dirty="0" smtClean="0">
                <a:sym typeface="+mn-ea"/>
              </a:rPr>
              <a:t>UAT</a:t>
            </a:r>
            <a:r>
              <a:rPr lang="zh-CN" altLang="en-US" sz="1400" dirty="0" smtClean="0">
                <a:sym typeface="+mn-ea"/>
              </a:rPr>
              <a:t>测试</a:t>
            </a:r>
            <a:r>
              <a:rPr lang="en-US" sz="1400" dirty="0" smtClean="0">
                <a:sym typeface="+mn-ea"/>
              </a:rPr>
              <a:t>                                          </a:t>
            </a:r>
            <a:endParaRPr sz="1400" dirty="0">
              <a:sym typeface="+mn-ea"/>
            </a:endParaRPr>
          </a:p>
          <a:p>
            <a:pPr algn="l"/>
            <a:r>
              <a:rPr sz="1400" dirty="0" err="1">
                <a:sym typeface="+mn-ea"/>
              </a:rPr>
              <a:t>模型数据处理</a:t>
            </a:r>
            <a:r>
              <a:rPr sz="1400" dirty="0">
                <a:sym typeface="+mn-ea"/>
              </a:rPr>
              <a:t>                                                     </a:t>
            </a:r>
          </a:p>
          <a:p>
            <a:pPr algn="l"/>
            <a:r>
              <a:rPr sz="1400" dirty="0" err="1">
                <a:sym typeface="+mn-ea"/>
              </a:rPr>
              <a:t>与前台数据调测</a:t>
            </a:r>
            <a:r>
              <a:rPr sz="1400" dirty="0">
                <a:sym typeface="+mn-ea"/>
              </a:rPr>
              <a:t>                                               </a:t>
            </a:r>
            <a:endParaRPr lang="en-US" sz="1400" dirty="0" smtClean="0">
              <a:sym typeface="+mn-ea"/>
            </a:endParaRPr>
          </a:p>
          <a:p>
            <a:pPr algn="l"/>
            <a:r>
              <a:rPr sz="1400" dirty="0" smtClean="0">
                <a:sym typeface="+mn-ea"/>
              </a:rPr>
              <a:t>9</a:t>
            </a:r>
            <a:r>
              <a:rPr sz="1400" dirty="0">
                <a:sym typeface="+mn-ea"/>
              </a:rPr>
              <a:t>、推荐   </a:t>
            </a:r>
          </a:p>
          <a:p>
            <a:pPr algn="l"/>
            <a:r>
              <a:rPr sz="1400" dirty="0" err="1">
                <a:sym typeface="+mn-ea"/>
              </a:rPr>
              <a:t>有用户行为推荐</a:t>
            </a:r>
            <a:r>
              <a:rPr sz="1400" dirty="0">
                <a:sym typeface="+mn-ea"/>
              </a:rPr>
              <a:t> （</a:t>
            </a:r>
            <a:r>
              <a:rPr sz="1400" dirty="0" err="1">
                <a:sym typeface="+mn-ea"/>
              </a:rPr>
              <a:t>基于用户</a:t>
            </a:r>
            <a:r>
              <a:rPr sz="1400" dirty="0">
                <a:sym typeface="+mn-ea"/>
              </a:rPr>
              <a:t>）                         </a:t>
            </a:r>
            <a:r>
              <a:rPr lang="en-US" sz="1400" dirty="0" smtClean="0">
                <a:sym typeface="+mn-ea"/>
              </a:rPr>
              <a:t>         </a:t>
            </a:r>
            <a:r>
              <a:rPr sz="1400" dirty="0" err="1" smtClean="0">
                <a:sym typeface="+mn-ea"/>
              </a:rPr>
              <a:t>产品</a:t>
            </a:r>
            <a:r>
              <a:rPr lang="zh-CN" altLang="en-US" sz="1400" dirty="0" smtClean="0">
                <a:sym typeface="+mn-ea"/>
              </a:rPr>
              <a:t>、创意</a:t>
            </a:r>
            <a:r>
              <a:rPr sz="1400" dirty="0" err="1" smtClean="0">
                <a:sym typeface="+mn-ea"/>
              </a:rPr>
              <a:t>推荐已完成</a:t>
            </a:r>
            <a:r>
              <a:rPr sz="1400" dirty="0">
                <a:sym typeface="+mn-ea"/>
              </a:rPr>
              <a:t>    </a:t>
            </a:r>
          </a:p>
          <a:p>
            <a:pPr algn="l"/>
            <a:r>
              <a:rPr sz="1400" dirty="0" err="1">
                <a:sym typeface="+mn-ea"/>
              </a:rPr>
              <a:t>无用户行为推荐</a:t>
            </a:r>
            <a:r>
              <a:rPr sz="1400" dirty="0">
                <a:sym typeface="+mn-ea"/>
              </a:rPr>
              <a:t> （</a:t>
            </a:r>
            <a:r>
              <a:rPr sz="1400" dirty="0" err="1">
                <a:sym typeface="+mn-ea"/>
              </a:rPr>
              <a:t>基于产品</a:t>
            </a:r>
            <a:r>
              <a:rPr sz="1400" dirty="0">
                <a:sym typeface="+mn-ea"/>
              </a:rPr>
              <a:t>）                         </a:t>
            </a:r>
            <a:r>
              <a:rPr lang="en-US" sz="1400" dirty="0" smtClean="0">
                <a:sym typeface="+mn-ea"/>
              </a:rPr>
              <a:t>         </a:t>
            </a:r>
            <a:r>
              <a:rPr sz="1400" dirty="0" err="1" smtClean="0">
                <a:sym typeface="+mn-ea"/>
              </a:rPr>
              <a:t>已完成</a:t>
            </a:r>
            <a:endParaRPr sz="1400" dirty="0">
              <a:sym typeface="+mn-ea"/>
            </a:endParaRPr>
          </a:p>
          <a:p>
            <a:pPr algn="l"/>
            <a:r>
              <a:rPr sz="1400" dirty="0">
                <a:sym typeface="+mn-ea"/>
              </a:rPr>
              <a:t>10、报表分析   </a:t>
            </a:r>
          </a:p>
          <a:p>
            <a:pPr algn="l"/>
            <a:r>
              <a:rPr sz="1400" dirty="0">
                <a:sym typeface="+mn-ea"/>
              </a:rPr>
              <a:t>共计14张报表   已开发3张   未开发11张   </a:t>
            </a:r>
          </a:p>
          <a:p>
            <a:pPr algn="l"/>
            <a:r>
              <a:rPr sz="1400" dirty="0" err="1">
                <a:sym typeface="+mn-ea"/>
              </a:rPr>
              <a:t>报表指标梳理确认</a:t>
            </a:r>
            <a:r>
              <a:rPr sz="1400" dirty="0">
                <a:sym typeface="+mn-ea"/>
              </a:rPr>
              <a:t>                                            </a:t>
            </a:r>
            <a:r>
              <a:rPr sz="1400" dirty="0" err="1">
                <a:sym typeface="+mn-ea"/>
              </a:rPr>
              <a:t>已完成</a:t>
            </a:r>
            <a:endParaRPr sz="1400" dirty="0">
              <a:sym typeface="+mn-ea"/>
            </a:endParaRPr>
          </a:p>
          <a:p>
            <a:pPr algn="l"/>
            <a:r>
              <a:rPr sz="1400" dirty="0" err="1">
                <a:sym typeface="+mn-ea"/>
              </a:rPr>
              <a:t>报表指标与开发小组对接、理解</a:t>
            </a:r>
            <a:r>
              <a:rPr sz="1400" dirty="0">
                <a:sym typeface="+mn-ea"/>
              </a:rPr>
              <a:t>                      </a:t>
            </a:r>
            <a:r>
              <a:rPr lang="zh-CN" altLang="en-US" sz="1400" dirty="0" smtClean="0">
                <a:sym typeface="+mn-ea"/>
              </a:rPr>
              <a:t>已完成</a:t>
            </a:r>
            <a:r>
              <a:rPr sz="1400" dirty="0">
                <a:sym typeface="+mn-ea"/>
              </a:rPr>
              <a:t>   </a:t>
            </a:r>
          </a:p>
          <a:p>
            <a:pPr algn="l"/>
            <a:r>
              <a:rPr sz="1400" dirty="0" err="1">
                <a:sym typeface="+mn-ea"/>
              </a:rPr>
              <a:t>前台报表开发</a:t>
            </a:r>
            <a:r>
              <a:rPr sz="1400" dirty="0">
                <a:sym typeface="+mn-ea"/>
              </a:rPr>
              <a:t>                                                   </a:t>
            </a:r>
            <a:r>
              <a:rPr lang="zh-CN" altLang="en-US" sz="1400" dirty="0" smtClean="0">
                <a:sym typeface="+mn-ea"/>
              </a:rPr>
              <a:t>已完成</a:t>
            </a:r>
            <a:r>
              <a:rPr sz="1400" dirty="0">
                <a:sym typeface="+mn-ea"/>
              </a:rPr>
              <a:t>   </a:t>
            </a:r>
          </a:p>
          <a:p>
            <a:pPr algn="l"/>
            <a:r>
              <a:rPr sz="1400" dirty="0" err="1">
                <a:sym typeface="+mn-ea"/>
              </a:rPr>
              <a:t>报表后台数据开发</a:t>
            </a:r>
            <a:r>
              <a:rPr sz="1400" dirty="0">
                <a:sym typeface="+mn-ea"/>
              </a:rPr>
              <a:t>                                           </a:t>
            </a:r>
            <a:r>
              <a:rPr lang="en-US" sz="1400" dirty="0" smtClean="0">
                <a:sym typeface="+mn-ea"/>
              </a:rPr>
              <a:t> </a:t>
            </a:r>
            <a:r>
              <a:rPr lang="zh-CN" altLang="en-US" sz="1400" dirty="0" smtClean="0">
                <a:sym typeface="+mn-ea"/>
              </a:rPr>
              <a:t>已完成</a:t>
            </a:r>
            <a:endParaRPr lang="en-US" altLang="zh-CN" sz="1400" dirty="0" smtClean="0">
              <a:sym typeface="+mn-ea"/>
            </a:endParaRPr>
          </a:p>
          <a:p>
            <a:pPr algn="l"/>
            <a:r>
              <a:rPr lang="zh-CN" altLang="en-US" sz="1400" dirty="0" smtClean="0"/>
              <a:t>内部测试                                                          完成</a:t>
            </a:r>
            <a:r>
              <a:rPr lang="en-US" altLang="zh-CN" sz="1400" dirty="0" smtClean="0"/>
              <a:t>20%</a:t>
            </a:r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开发甘特图</a:t>
            </a:r>
          </a:p>
        </p:txBody>
      </p:sp>
      <p:cxnSp>
        <p:nvCxnSpPr>
          <p:cNvPr id="4" name="直接箭头连接符 3"/>
          <p:cNvCxnSpPr/>
          <p:nvPr/>
        </p:nvCxnSpPr>
        <p:spPr>
          <a:xfrm flipH="1" flipV="1">
            <a:off x="1191895" y="965788"/>
            <a:ext cx="13335" cy="49098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V="1">
            <a:off x="810260" y="5559378"/>
            <a:ext cx="10985500" cy="527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2843530" y="1005158"/>
            <a:ext cx="52705" cy="4593590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616450" y="1010238"/>
            <a:ext cx="52705" cy="4593590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6536690" y="994998"/>
            <a:ext cx="52705" cy="4593590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8436610" y="1005158"/>
            <a:ext cx="52705" cy="4593590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0361930" y="979758"/>
            <a:ext cx="52705" cy="4593590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792480" y="5750513"/>
            <a:ext cx="16306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2017-07-07</a:t>
            </a:r>
            <a:endParaRPr lang="en-US" altLang="zh-CN" sz="1400" dirty="0"/>
          </a:p>
        </p:txBody>
      </p:sp>
      <p:sp>
        <p:nvSpPr>
          <p:cNvPr id="14" name="文本框 13"/>
          <p:cNvSpPr txBox="1"/>
          <p:nvPr/>
        </p:nvSpPr>
        <p:spPr>
          <a:xfrm>
            <a:off x="2423160" y="5750513"/>
            <a:ext cx="16306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2017-07-14</a:t>
            </a:r>
            <a:endParaRPr lang="en-US" altLang="zh-CN" sz="1400" dirty="0"/>
          </a:p>
        </p:txBody>
      </p:sp>
      <p:sp>
        <p:nvSpPr>
          <p:cNvPr id="15" name="文本框 14"/>
          <p:cNvSpPr txBox="1"/>
          <p:nvPr/>
        </p:nvSpPr>
        <p:spPr>
          <a:xfrm>
            <a:off x="4109720" y="5745433"/>
            <a:ext cx="16306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2017-07-21</a:t>
            </a:r>
            <a:endParaRPr lang="en-US" altLang="zh-CN" sz="1400" dirty="0"/>
          </a:p>
        </p:txBody>
      </p:sp>
      <p:sp>
        <p:nvSpPr>
          <p:cNvPr id="16" name="文本框 15"/>
          <p:cNvSpPr txBox="1"/>
          <p:nvPr/>
        </p:nvSpPr>
        <p:spPr>
          <a:xfrm>
            <a:off x="6019800" y="5730193"/>
            <a:ext cx="16306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2017-07-28</a:t>
            </a:r>
            <a:endParaRPr lang="en-US" altLang="zh-CN" sz="1400" dirty="0"/>
          </a:p>
        </p:txBody>
      </p:sp>
      <p:sp>
        <p:nvSpPr>
          <p:cNvPr id="17" name="文本框 16"/>
          <p:cNvSpPr txBox="1"/>
          <p:nvPr/>
        </p:nvSpPr>
        <p:spPr>
          <a:xfrm>
            <a:off x="7879080" y="5730193"/>
            <a:ext cx="16306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2017-08-04</a:t>
            </a:r>
            <a:endParaRPr lang="en-US" altLang="zh-CN" sz="14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804400" y="5704793"/>
            <a:ext cx="16306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2017-08-11</a:t>
            </a:r>
            <a:endParaRPr lang="en-US" altLang="zh-CN" sz="1400" dirty="0"/>
          </a:p>
        </p:txBody>
      </p:sp>
      <p:sp>
        <p:nvSpPr>
          <p:cNvPr id="19" name="矩形 18"/>
          <p:cNvSpPr/>
          <p:nvPr/>
        </p:nvSpPr>
        <p:spPr>
          <a:xfrm>
            <a:off x="1203960" y="5074274"/>
            <a:ext cx="1848485" cy="24553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149985" y="5333139"/>
            <a:ext cx="22739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推荐模型及内测</a:t>
            </a:r>
            <a:endParaRPr lang="zh-CN" altLang="en-US" sz="1400" dirty="0"/>
          </a:p>
        </p:txBody>
      </p:sp>
      <p:sp>
        <p:nvSpPr>
          <p:cNvPr id="3" name="文本框 2"/>
          <p:cNvSpPr txBox="1"/>
          <p:nvPr/>
        </p:nvSpPr>
        <p:spPr>
          <a:xfrm>
            <a:off x="1137292" y="2788973"/>
            <a:ext cx="1285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报表内部测试</a:t>
            </a:r>
            <a:endParaRPr lang="zh-CN" altLang="en-US" sz="1400" dirty="0"/>
          </a:p>
        </p:txBody>
      </p:sp>
      <p:sp>
        <p:nvSpPr>
          <p:cNvPr id="8" name="矩形 7"/>
          <p:cNvSpPr/>
          <p:nvPr/>
        </p:nvSpPr>
        <p:spPr>
          <a:xfrm>
            <a:off x="1191896" y="2492531"/>
            <a:ext cx="1426040" cy="268681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1151890" y="3648288"/>
            <a:ext cx="28555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UAT</a:t>
            </a:r>
            <a:r>
              <a:rPr lang="zh-CN" altLang="en-US" sz="1400" dirty="0" smtClean="0"/>
              <a:t>测试优化</a:t>
            </a:r>
            <a:endParaRPr lang="zh-CN" altLang="en-US" sz="1400" dirty="0"/>
          </a:p>
        </p:txBody>
      </p:sp>
      <p:sp>
        <p:nvSpPr>
          <p:cNvPr id="30" name="矩形 29"/>
          <p:cNvSpPr/>
          <p:nvPr/>
        </p:nvSpPr>
        <p:spPr>
          <a:xfrm>
            <a:off x="1215505" y="3275988"/>
            <a:ext cx="5108021" cy="307905"/>
          </a:xfrm>
          <a:prstGeom prst="rect">
            <a:avLst/>
          </a:prstGeom>
          <a:pattFill prst="pct10">
            <a:fgClr>
              <a:srgbClr val="5B9BD5"/>
            </a:fgClr>
            <a:bgClr>
              <a:srgbClr val="FFFFFF"/>
            </a:bgClr>
          </a:patt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1215511" y="4262143"/>
            <a:ext cx="3473964" cy="265000"/>
          </a:xfrm>
          <a:prstGeom prst="rect">
            <a:avLst/>
          </a:prstGeom>
          <a:pattFill prst="pct10">
            <a:fgClr>
              <a:srgbClr val="5B9BD5"/>
            </a:fgClr>
            <a:bgClr>
              <a:srgbClr val="FFFFFF"/>
            </a:bgClr>
          </a:patt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149741" y="4612053"/>
            <a:ext cx="28555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实施阶段</a:t>
            </a:r>
            <a:r>
              <a:rPr lang="zh-CN" altLang="en-US" sz="1400" dirty="0" smtClean="0"/>
              <a:t>验收</a:t>
            </a:r>
            <a:r>
              <a:rPr lang="zh-CN" altLang="en-US" sz="1400" dirty="0" smtClean="0"/>
              <a:t>交付文档</a:t>
            </a:r>
            <a:endParaRPr lang="zh-CN" altLang="en-US" sz="1400" dirty="0"/>
          </a:p>
        </p:txBody>
      </p:sp>
      <p:sp>
        <p:nvSpPr>
          <p:cNvPr id="33" name="矩形 32"/>
          <p:cNvSpPr/>
          <p:nvPr/>
        </p:nvSpPr>
        <p:spPr>
          <a:xfrm>
            <a:off x="3925091" y="6250498"/>
            <a:ext cx="312057" cy="303668"/>
          </a:xfrm>
          <a:prstGeom prst="rect">
            <a:avLst/>
          </a:prstGeom>
          <a:pattFill prst="pct10">
            <a:fgClr>
              <a:srgbClr val="5B9BD5"/>
            </a:fgClr>
            <a:bgClr>
              <a:srgbClr val="FFFFFF"/>
            </a:bgClr>
          </a:patt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1557593" y="6269844"/>
            <a:ext cx="328832" cy="3107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1845198" y="6260554"/>
            <a:ext cx="1325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较明确的任务</a:t>
            </a:r>
            <a:endParaRPr lang="zh-CN" altLang="en-US" sz="1400" dirty="0"/>
          </a:p>
        </p:txBody>
      </p:sp>
      <p:sp>
        <p:nvSpPr>
          <p:cNvPr id="37" name="文本框 36"/>
          <p:cNvSpPr txBox="1"/>
          <p:nvPr/>
        </p:nvSpPr>
        <p:spPr>
          <a:xfrm>
            <a:off x="4199885" y="6258406"/>
            <a:ext cx="3063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需要渐进明细或者非全时参与的任务</a:t>
            </a:r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上周完成任务</a:t>
            </a:r>
          </a:p>
        </p:txBody>
      </p:sp>
      <p:graphicFrame>
        <p:nvGraphicFramePr>
          <p:cNvPr id="3" name="表格 2"/>
          <p:cNvGraphicFramePr/>
          <p:nvPr>
            <p:extLst>
              <p:ext uri="{D42A27DB-BD31-4B8C-83A1-F6EECF244321}">
                <p14:modId xmlns:p14="http://schemas.microsoft.com/office/powerpoint/2010/main" val="903938618"/>
              </p:ext>
            </p:extLst>
          </p:nvPr>
        </p:nvGraphicFramePr>
        <p:xfrm>
          <a:off x="721217" y="1468411"/>
          <a:ext cx="10268093" cy="28800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1443"/>
                <a:gridCol w="5603727"/>
                <a:gridCol w="3422923"/>
              </a:tblGrid>
              <a:tr h="549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序号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任务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状态</a:t>
                      </a:r>
                    </a:p>
                  </a:txBody>
                  <a:tcPr/>
                </a:tc>
              </a:tr>
              <a:tr h="6862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 smtClean="0"/>
                        <a:t>报表开发（前台及数据开发）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完成</a:t>
                      </a:r>
                    </a:p>
                  </a:txBody>
                  <a:tcPr/>
                </a:tc>
              </a:tr>
              <a:tr h="550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 smtClean="0"/>
                        <a:t>推荐模型开发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 smtClean="0"/>
                        <a:t>有行为用户作品、设计师推荐未完成；其他完成。</a:t>
                      </a:r>
                      <a:endParaRPr lang="zh-CN" altLang="en-US" dirty="0"/>
                    </a:p>
                  </a:txBody>
                  <a:tcPr/>
                </a:tc>
              </a:tr>
              <a:tr h="549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 smtClean="0">
                          <a:sym typeface="+mn-ea"/>
                        </a:rPr>
                        <a:t>报表内部测试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 smtClean="0"/>
                        <a:t>完成</a:t>
                      </a:r>
                      <a:r>
                        <a:rPr lang="en-US" altLang="zh-CN" dirty="0" smtClean="0"/>
                        <a:t>20%</a:t>
                      </a:r>
                      <a:endParaRPr lang="zh-CN" altLang="en-US" dirty="0"/>
                    </a:p>
                  </a:txBody>
                  <a:tcPr/>
                </a:tc>
              </a:tr>
              <a:tr h="453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 smtClean="0"/>
                        <a:t>4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下周工作计划</a:t>
            </a:r>
          </a:p>
        </p:txBody>
      </p:sp>
      <p:graphicFrame>
        <p:nvGraphicFramePr>
          <p:cNvPr id="3" name="表格 2"/>
          <p:cNvGraphicFramePr/>
          <p:nvPr>
            <p:extLst>
              <p:ext uri="{D42A27DB-BD31-4B8C-83A1-F6EECF244321}">
                <p14:modId xmlns:p14="http://schemas.microsoft.com/office/powerpoint/2010/main" val="2330178697"/>
              </p:ext>
            </p:extLst>
          </p:nvPr>
        </p:nvGraphicFramePr>
        <p:xfrm>
          <a:off x="931545" y="1678940"/>
          <a:ext cx="9848850" cy="298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7010"/>
                <a:gridCol w="5088890"/>
                <a:gridCol w="3282950"/>
              </a:tblGrid>
              <a:tr h="4724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序号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任务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备注</a:t>
                      </a:r>
                    </a:p>
                  </a:txBody>
                  <a:tcPr/>
                </a:tc>
              </a:tr>
              <a:tr h="471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 smtClean="0">
                          <a:sym typeface="+mn-ea"/>
                        </a:rPr>
                        <a:t>报表测试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 smtClean="0"/>
                        <a:t>完成</a:t>
                      </a:r>
                      <a:r>
                        <a:rPr lang="en-US" altLang="zh-CN" dirty="0" smtClean="0"/>
                        <a:t>100%</a:t>
                      </a:r>
                      <a:endParaRPr lang="zh-CN" altLang="en-US" dirty="0"/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 smtClean="0">
                          <a:sym typeface="+mn-ea"/>
                        </a:rPr>
                        <a:t>除报表外</a:t>
                      </a:r>
                      <a:r>
                        <a:rPr lang="en-US" altLang="zh-CN" sz="1800" dirty="0" smtClean="0">
                          <a:sym typeface="+mn-ea"/>
                        </a:rPr>
                        <a:t>bug</a:t>
                      </a:r>
                      <a:r>
                        <a:rPr lang="zh-CN" altLang="en-US" sz="1800" dirty="0" smtClean="0">
                          <a:sym typeface="+mn-ea"/>
                        </a:rPr>
                        <a:t>优化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 smtClean="0"/>
                        <a:t>根据内测、及</a:t>
                      </a:r>
                      <a:r>
                        <a:rPr lang="en-US" altLang="zh-CN" dirty="0" smtClean="0"/>
                        <a:t>UAT</a:t>
                      </a:r>
                      <a:r>
                        <a:rPr lang="zh-CN" altLang="en-US" dirty="0" smtClean="0"/>
                        <a:t>测试结果</a:t>
                      </a:r>
                      <a:endParaRPr lang="zh-CN" altLang="en-US" dirty="0"/>
                    </a:p>
                  </a:txBody>
                  <a:tcPr/>
                </a:tc>
              </a:tr>
              <a:tr h="471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 smtClean="0"/>
                        <a:t>推荐模型测试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产品、设计师推荐模</a:t>
                      </a:r>
                    </a:p>
                    <a:p>
                      <a:pPr>
                        <a:buNone/>
                      </a:pPr>
                      <a:r>
                        <a:rPr lang="zh-CN" altLang="en-US" dirty="0" smtClean="0"/>
                        <a:t>型</a:t>
                      </a:r>
                      <a:endParaRPr lang="zh-CN" altLang="en-US" dirty="0"/>
                    </a:p>
                  </a:txBody>
                  <a:tcPr/>
                </a:tc>
              </a:tr>
              <a:tr h="4533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 smtClean="0"/>
                        <a:t>上线交付文档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50%</a:t>
                      </a:r>
                      <a:endParaRPr lang="zh-CN" altLang="en-US" dirty="0"/>
                    </a:p>
                  </a:txBody>
                  <a:tcPr/>
                </a:tc>
              </a:tr>
              <a:tr h="471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 smtClean="0">
                          <a:sym typeface="+mn-ea"/>
                        </a:rPr>
                        <a:t>其他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DIY</a:t>
            </a:r>
          </a:p>
        </p:txBody>
      </p:sp>
      <p:sp>
        <p:nvSpPr>
          <p:cNvPr id="3" name="矩形 2"/>
          <p:cNvSpPr/>
          <p:nvPr/>
        </p:nvSpPr>
        <p:spPr>
          <a:xfrm>
            <a:off x="2703830" y="2829560"/>
            <a:ext cx="6205855" cy="1198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THANKS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jeff1">
      <a:majorFont>
        <a:latin typeface="Segoe UI Light"/>
        <a:ea typeface="黑体"/>
        <a:cs typeface=""/>
      </a:majorFont>
      <a:minorFont>
        <a:latin typeface="Segoe UI Light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</TotalTime>
  <Words>180</Words>
  <Application>Microsoft Office PowerPoint</Application>
  <PresentationFormat>宽屏</PresentationFormat>
  <Paragraphs>99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黑体</vt:lpstr>
      <vt:lpstr>微软雅黑</vt:lpstr>
      <vt:lpstr>Arial</vt:lpstr>
      <vt:lpstr>Segoe UI Light</vt:lpstr>
      <vt:lpstr>Office 主题​​</vt:lpstr>
      <vt:lpstr>Haier用户定制应用分析支持项目周例会</vt:lpstr>
      <vt:lpstr>项目整体开发状态</vt:lpstr>
      <vt:lpstr>项目开发状态明细</vt:lpstr>
      <vt:lpstr>开发甘特图</vt:lpstr>
      <vt:lpstr>上周完成任务</vt:lpstr>
      <vt:lpstr>下周工作计划</vt:lpstr>
      <vt:lpstr>DIY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jeffzhu4</dc:creator>
  <cp:lastModifiedBy>Eric.liu</cp:lastModifiedBy>
  <cp:revision>947</cp:revision>
  <dcterms:created xsi:type="dcterms:W3CDTF">2016-03-15T12:24:00Z</dcterms:created>
  <dcterms:modified xsi:type="dcterms:W3CDTF">2017-07-05T06:01:45Z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2052-10.1.0.6554</vt:lpwstr>
  </property>
</Properties>
</file>