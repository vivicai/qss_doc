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78" r:id="rId2"/>
    <p:sldId id="414" r:id="rId3"/>
    <p:sldId id="390" r:id="rId4"/>
    <p:sldId id="42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1117" userDrawn="1">
          <p15:clr>
            <a:srgbClr val="A4A3A4"/>
          </p15:clr>
        </p15:guide>
        <p15:guide id="13" pos="4158" userDrawn="1">
          <p15:clr>
            <a:srgbClr val="A4A3A4"/>
          </p15:clr>
        </p15:guide>
        <p15:guide id="14" pos="461" userDrawn="1">
          <p15:clr>
            <a:srgbClr val="A4A3A4"/>
          </p15:clr>
        </p15:guide>
        <p15:guide id="15" orient="horz" pos="709" userDrawn="1">
          <p15:clr>
            <a:srgbClr val="A4A3A4"/>
          </p15:clr>
        </p15:guide>
        <p15:guide id="16" pos="5155" userDrawn="1">
          <p15:clr>
            <a:srgbClr val="A4A3A4"/>
          </p15:clr>
        </p15:guide>
        <p15:guide id="17" pos="46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CECE"/>
    <a:srgbClr val="5B9BD5"/>
    <a:srgbClr val="ED7D31"/>
    <a:srgbClr val="40AAA0"/>
    <a:srgbClr val="E3A447"/>
    <a:srgbClr val="B48981"/>
    <a:srgbClr val="776E80"/>
    <a:srgbClr val="3DAAA0"/>
    <a:srgbClr val="C7E3F5"/>
    <a:srgbClr val="9DC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9" autoAdjust="0"/>
    <p:restoredTop sz="91261" autoAdjust="0"/>
  </p:normalViewPr>
  <p:slideViewPr>
    <p:cSldViewPr snapToGrid="0">
      <p:cViewPr varScale="1">
        <p:scale>
          <a:sx n="87" d="100"/>
          <a:sy n="87" d="100"/>
        </p:scale>
        <p:origin x="192" y="84"/>
      </p:cViewPr>
      <p:guideLst>
        <p:guide orient="horz" pos="1117"/>
        <p:guide pos="4158"/>
        <p:guide pos="461"/>
        <p:guide orient="horz" pos="709"/>
        <p:guide pos="5155"/>
        <p:guide pos="467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工作进度</a:t>
            </a:r>
          </a:p>
        </c:rich>
      </c:tx>
      <c:layout>
        <c:manualLayout>
          <c:xMode val="edge"/>
          <c:yMode val="edge"/>
          <c:x val="5.3445875888096156E-2"/>
          <c:y val="2.51162781499257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进度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61A-45B6-9E97-56DA00C98D8B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61A-45B6-9E97-56DA00C98D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内部需求沟通会</c:v>
                </c:pt>
                <c:pt idx="1">
                  <c:v>订单全流程调研</c:v>
                </c:pt>
                <c:pt idx="2">
                  <c:v>与晓虎总沟通会议</c:v>
                </c:pt>
                <c:pt idx="3">
                  <c:v>开发环境Hadoop环境搭建及测试</c:v>
                </c:pt>
                <c:pt idx="4">
                  <c:v>生产、测试Hadoop环境搭建及测试</c:v>
                </c:pt>
                <c:pt idx="5">
                  <c:v>EDW/SCRM/U+沟通数据开放</c:v>
                </c:pt>
                <c:pt idx="6">
                  <c:v>用户画像UI设计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B2-4C95-8568-7530D651EB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79918528"/>
        <c:axId val="679919776"/>
      </c:barChart>
      <c:catAx>
        <c:axId val="6799185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79919776"/>
        <c:crosses val="autoZero"/>
        <c:auto val="1"/>
        <c:lblAlgn val="ctr"/>
        <c:lblOffset val="100"/>
        <c:noMultiLvlLbl val="0"/>
      </c:catAx>
      <c:valAx>
        <c:axId val="679919776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79918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BC92C-9244-456F-99CB-429749FEC58A}" type="datetimeFigureOut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634EC-9969-497C-8A3A-339D48BDBCB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52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7FCE-B695-4179-8C96-2978C3207FBA}" type="datetime1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09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C44D-BADB-438C-891A-0E9573948B2C}" type="datetime1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39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691F-7A24-4268-9DD6-92342410E71D}" type="datetime1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465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4F50-0AB1-4EB1-8122-075B25F7D6FB}" type="datetime1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6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CC694-3086-48A4-BA9A-8406044FE57B}" type="datetime1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50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AC37-9C26-4DB2-A318-BED587A8B794}" type="datetime1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15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0C6-5756-4B06-854F-3BA6A3B8928C}" type="datetime1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902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96BE-7E15-4090-86DC-F44F78F2DFB0}" type="datetime1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522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4F9-C8F3-4B27-A444-DCB3A5F13130}" type="datetime1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81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6069-4040-4EAC-B41C-B5F3C484F785}" type="datetime1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92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BF8C-C3E5-4CD6-A55D-7CF4DAC48690}" type="datetime1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399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86425" y="300039"/>
            <a:ext cx="8412607" cy="606361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1380572" y="6319280"/>
            <a:ext cx="580769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3714" y="287847"/>
            <a:ext cx="1416250" cy="61855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 flipH="1">
            <a:off x="1840706" y="300039"/>
            <a:ext cx="45719" cy="618553"/>
          </a:xfrm>
          <a:prstGeom prst="rect">
            <a:avLst/>
          </a:prstGeom>
          <a:solidFill>
            <a:srgbClr val="448D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65A0C4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2"/>
          </p:nvPr>
        </p:nvSpPr>
        <p:spPr>
          <a:xfrm>
            <a:off x="794738" y="1206417"/>
            <a:ext cx="10450297" cy="19899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343434"/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856" y="300039"/>
            <a:ext cx="1616485" cy="53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0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901" y="236025"/>
            <a:ext cx="11506198" cy="770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422400"/>
            <a:ext cx="11506198" cy="4644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6A957-69F8-456E-B862-FB743A2D5258}" type="datetime1">
              <a:rPr lang="zh-CN" altLang="en-US" smtClean="0"/>
              <a:pPr/>
              <a:t>2016/6/3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CEBF1-E09E-4C9D-88C1-61BEB77D5A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78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rgbClr val="004C9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egoe UI Light" panose="020B0502040204020203" pitchFamily="34" charset="0"/>
        <a:buChar char="⁄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egoe UI Light" panose="020B0502040204020203" pitchFamily="34" charset="0"/>
        <a:buChar char="›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egoe UI Light" panose="020B0502040204020203" pitchFamily="34" charset="0"/>
        <a:buChar char="₋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20719" cy="2387600"/>
          </a:xfrm>
        </p:spPr>
        <p:txBody>
          <a:bodyPr>
            <a:normAutofit/>
          </a:bodyPr>
          <a:lstStyle/>
          <a:p>
            <a:r>
              <a:rPr lang="en-US" altLang="zh-CN" sz="4800" dirty="0" err="1">
                <a:latin typeface="微软雅黑" pitchFamily="34" charset="-122"/>
                <a:ea typeface="微软雅黑" pitchFamily="34" charset="-122"/>
              </a:rPr>
              <a:t>Haier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用户定制应用分析支持项目</a:t>
            </a:r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20160530-20160605</a:t>
            </a:r>
            <a:r>
              <a:rPr lang="zh-CN" altLang="en-US" dirty="0"/>
              <a:t>周报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953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本周工作进度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F1DCEBF1-E09E-4C9D-88C1-61BEB77D5AB6}" type="slidenum">
              <a:rPr lang="zh-CN" altLang="en-US" smtClean="0"/>
              <a:pPr/>
              <a:t>2</a:t>
            </a:fld>
            <a:endParaRPr lang="zh-CN" altLang="en-US"/>
          </a:p>
        </p:txBody>
      </p:sp>
      <p:graphicFrame>
        <p:nvGraphicFramePr>
          <p:cNvPr id="6" name="图表 5"/>
          <p:cNvGraphicFramePr/>
          <p:nvPr>
            <p:extLst>
              <p:ext uri="{D42A27DB-BD31-4B8C-83A1-F6EECF244321}">
                <p14:modId xmlns:p14="http://schemas.microsoft.com/office/powerpoint/2010/main" val="1463240710"/>
              </p:ext>
            </p:extLst>
          </p:nvPr>
        </p:nvGraphicFramePr>
        <p:xfrm>
          <a:off x="372533" y="1211199"/>
          <a:ext cx="5452535" cy="5234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825068" y="13998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重点工作监控：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412089" y="2133600"/>
            <a:ext cx="5373511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用户画像</a:t>
            </a:r>
            <a:r>
              <a:rPr lang="en-US" altLang="zh-CN" dirty="0"/>
              <a:t>UI</a:t>
            </a:r>
            <a:r>
              <a:rPr lang="zh-CN" altLang="en-US" dirty="0"/>
              <a:t>设计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原因：设计人员因家中老人去世请假导致延期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扑救措施：另外协调人员本周末加班完成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EDW/SCRM/U+</a:t>
            </a:r>
            <a:r>
              <a:rPr lang="zh-CN" altLang="en-US" dirty="0"/>
              <a:t>数据开放达成基本一致，但具体完成时间仍未确定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先行开展外部数据抓取工作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01510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项目问题及风险跟踪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524311"/>
              </p:ext>
            </p:extLst>
          </p:nvPr>
        </p:nvGraphicFramePr>
        <p:xfrm>
          <a:off x="191069" y="1054069"/>
          <a:ext cx="11680891" cy="1372926"/>
        </p:xfrm>
        <a:graphic>
          <a:graphicData uri="http://schemas.openxmlformats.org/drawingml/2006/table">
            <a:tbl>
              <a:tblPr/>
              <a:tblGrid>
                <a:gridCol w="80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7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89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2360">
                  <a:extLst>
                    <a:ext uri="{9D8B030D-6E8A-4147-A177-3AD203B41FA5}">
                      <a16:colId xmlns:a16="http://schemas.microsoft.com/office/drawing/2014/main" val="3987328186"/>
                    </a:ext>
                  </a:extLst>
                </a:gridCol>
              </a:tblGrid>
              <a:tr h="22882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类型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描述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等级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提出人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负责人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预计完成时间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82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问题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无法看到</a:t>
                      </a:r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EDW</a:t>
                      </a:r>
                      <a:r>
                        <a:rPr lang="zh-CN" altLang="en-US" sz="1200" b="0" i="0" u="none" strike="noStrike" dirty="0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、</a:t>
                      </a:r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SCRM</a:t>
                      </a:r>
                      <a:r>
                        <a:rPr lang="zh-CN" altLang="en-US" sz="1200" b="0" i="0" u="none" strike="noStrike" dirty="0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的系统数据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高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李鑫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陈懿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TBD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399076"/>
                  </a:ext>
                </a:extLst>
              </a:tr>
              <a:tr h="22882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问题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FF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与其他系统对接准则不明确导致后续数据准备工作无法开展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高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李鑫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陈懿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TBD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240214"/>
                  </a:ext>
                </a:extLst>
              </a:tr>
              <a:tr h="22882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问题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开发环境的虚拟机内存太小，</a:t>
                      </a:r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Cloudrea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管理界面报警，需要协调增加内存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高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黄裔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卢瑾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2016.06.06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039292"/>
                  </a:ext>
                </a:extLst>
              </a:tr>
              <a:tr h="22882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风险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众创汇改版中，对项目需求及进度存在不确定性，导致延期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高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李鑫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邹晓慧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2016.06.15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9518628"/>
                  </a:ext>
                </a:extLst>
              </a:tr>
              <a:tr h="22882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风险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因硬件没有按时到位导致项目延期</a:t>
                      </a: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464" marR="6464" marT="64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494777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9469" y="2500081"/>
            <a:ext cx="3039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>
                <a:solidFill>
                  <a:srgbClr val="FF0000"/>
                </a:solidFill>
              </a:rPr>
              <a:t>备注：红色为重要问题</a:t>
            </a:r>
            <a:r>
              <a:rPr lang="en-US" altLang="zh-CN" i="1" dirty="0">
                <a:solidFill>
                  <a:srgbClr val="FF0000"/>
                </a:solidFill>
              </a:rPr>
              <a:t>/</a:t>
            </a:r>
            <a:r>
              <a:rPr lang="zh-CN" altLang="en-US" i="1" dirty="0">
                <a:solidFill>
                  <a:srgbClr val="FF0000"/>
                </a:solidFill>
              </a:rPr>
              <a:t>风险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4681" y="3393279"/>
            <a:ext cx="113760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EDW/SCRM/U+</a:t>
            </a:r>
            <a:r>
              <a:rPr lang="zh-CN" altLang="en-US" dirty="0"/>
              <a:t>数据开放问题，现解决方式为由</a:t>
            </a:r>
            <a:r>
              <a:rPr lang="en-US" altLang="zh-CN" dirty="0"/>
              <a:t>690PSI</a:t>
            </a:r>
            <a:r>
              <a:rPr lang="zh-CN" altLang="en-US" dirty="0"/>
              <a:t>搭建数据共享中心，将清洗后数据抽到共享中心，用户定制项目从共享中心读取数据。根据陈懿发送的邮件，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  <a:r>
              <a:rPr lang="en-US" altLang="zh-CN" dirty="0"/>
              <a:t>6</a:t>
            </a:r>
            <a:r>
              <a:rPr lang="zh-CN" altLang="en-US" dirty="0"/>
              <a:t>日完成用户定制与交互助手的需求，技术架构实现时间未定；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经过与陈懿、王晓虎总沟通，在需求基本确定时可根据实际情况延期；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9469" y="294668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重点问题及风险采取措施：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直接连接符 97"/>
          <p:cNvCxnSpPr/>
          <p:nvPr/>
        </p:nvCxnSpPr>
        <p:spPr>
          <a:xfrm>
            <a:off x="3750027" y="1869824"/>
            <a:ext cx="0" cy="4634802"/>
          </a:xfrm>
          <a:prstGeom prst="line">
            <a:avLst/>
          </a:prstGeom>
          <a:ln w="9525" cap="flat" cmpd="sng" algn="ctr">
            <a:solidFill>
              <a:srgbClr val="40AA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5335937" y="1869824"/>
            <a:ext cx="0" cy="4634802"/>
          </a:xfrm>
          <a:prstGeom prst="line">
            <a:avLst/>
          </a:prstGeom>
          <a:ln w="9525" cap="flat" cmpd="sng" algn="ctr">
            <a:solidFill>
              <a:srgbClr val="40AA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>
            <a:off x="10067480" y="1891800"/>
            <a:ext cx="0" cy="4634802"/>
          </a:xfrm>
          <a:prstGeom prst="line">
            <a:avLst/>
          </a:prstGeom>
          <a:ln w="9525" cap="flat" cmpd="sng" algn="ctr">
            <a:solidFill>
              <a:srgbClr val="40AA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698235" y="1869824"/>
            <a:ext cx="0" cy="4634802"/>
          </a:xfrm>
          <a:prstGeom prst="line">
            <a:avLst/>
          </a:prstGeom>
          <a:ln w="9525" cap="flat" cmpd="sng" algn="ctr">
            <a:solidFill>
              <a:srgbClr val="40AA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2199328" y="1869824"/>
            <a:ext cx="0" cy="4634802"/>
          </a:xfrm>
          <a:prstGeom prst="line">
            <a:avLst/>
          </a:prstGeom>
          <a:ln w="9525" cap="flat" cmpd="sng" algn="ctr">
            <a:solidFill>
              <a:srgbClr val="40AA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下周工作计划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752336" y="2454643"/>
            <a:ext cx="2946822" cy="270000"/>
          </a:xfrm>
          <a:prstGeom prst="roundRect">
            <a:avLst>
              <a:gd name="adj" fmla="val 50000"/>
            </a:avLst>
          </a:prstGeom>
          <a:solidFill>
            <a:srgbClr val="40AA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共享中心技术架构讨论</a:t>
            </a:r>
            <a:endParaRPr lang="en-US" sz="1200" dirty="0">
              <a:solidFill>
                <a:srgbClr val="FFFFFF"/>
              </a:solidFill>
              <a:latin typeface="Aldo" panose="02000506000000020004" pitchFamily="2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44655" y="4148699"/>
            <a:ext cx="2954503" cy="270000"/>
          </a:xfrm>
          <a:prstGeom prst="roundRect">
            <a:avLst>
              <a:gd name="adj" fmla="val 50000"/>
            </a:avLst>
          </a:prstGeom>
          <a:solidFill>
            <a:srgbClr val="7970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/>
            <a:r>
              <a:rPr lang="en-US" altLang="zh-CN" sz="1200" dirty="0" err="1">
                <a:solidFill>
                  <a:srgbClr val="FFFFFF"/>
                </a:solidFill>
                <a:latin typeface="Aldo" panose="02000506000000020004" pitchFamily="2" charset="0"/>
              </a:rPr>
              <a:t>Knime+dataflow</a:t>
            </a:r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环境搭建</a:t>
            </a:r>
            <a:endParaRPr lang="en-US" sz="1200" dirty="0">
              <a:solidFill>
                <a:srgbClr val="FFFFFF"/>
              </a:solidFill>
              <a:latin typeface="Aldo" panose="02000506000000020004" pitchFamily="2" charset="0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3891711" y="4520893"/>
            <a:ext cx="1369813" cy="270000"/>
          </a:xfrm>
          <a:prstGeom prst="roundRect">
            <a:avLst>
              <a:gd name="adj" fmla="val 50000"/>
            </a:avLst>
          </a:prstGeom>
          <a:solidFill>
            <a:srgbClr val="E5A4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环境测试</a:t>
            </a:r>
            <a:endParaRPr lang="en-US" sz="1200" dirty="0">
              <a:solidFill>
                <a:srgbClr val="FFFFFF"/>
              </a:solidFill>
              <a:latin typeface="Aldo" panose="02000506000000020004" pitchFamily="2" charset="0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720813" y="1306579"/>
            <a:ext cx="9189581" cy="769887"/>
            <a:chOff x="720813" y="1464625"/>
            <a:chExt cx="9189581" cy="769887"/>
          </a:xfrm>
        </p:grpSpPr>
        <p:sp>
          <p:nvSpPr>
            <p:cNvPr id="30" name="矩形 29"/>
            <p:cNvSpPr/>
            <p:nvPr/>
          </p:nvSpPr>
          <p:spPr>
            <a:xfrm>
              <a:off x="8650394" y="2027870"/>
              <a:ext cx="1260000" cy="7767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wordArtVert" rtlCol="0" anchor="ctr"/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1" name="流程图: 手动输入 50"/>
            <p:cNvSpPr/>
            <p:nvPr/>
          </p:nvSpPr>
          <p:spPr>
            <a:xfrm rot="5400000">
              <a:off x="2592345" y="-208471"/>
              <a:ext cx="396870" cy="3743062"/>
            </a:xfrm>
            <a:prstGeom prst="flowChartManualInput">
              <a:avLst/>
            </a:prstGeom>
            <a:solidFill>
              <a:srgbClr val="40AA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椭圆 53"/>
            <p:cNvSpPr>
              <a:spLocks noChangeAspect="1"/>
            </p:cNvSpPr>
            <p:nvPr/>
          </p:nvSpPr>
          <p:spPr>
            <a:xfrm>
              <a:off x="720813" y="1464625"/>
              <a:ext cx="396871" cy="396870"/>
            </a:xfrm>
            <a:prstGeom prst="ellipse">
              <a:avLst/>
            </a:prstGeom>
            <a:solidFill>
              <a:srgbClr val="40AAA0"/>
            </a:solidFill>
            <a:ln w="1016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0" dirty="0">
                  <a:solidFill>
                    <a:srgbClr val="40AAA0"/>
                  </a:solidFill>
                  <a:latin typeface="DIN Black" pitchFamily="50" charset="0"/>
                </a:rPr>
                <a:t>1</a:t>
              </a:r>
              <a:endParaRPr lang="en-US" sz="1800" dirty="0">
                <a:solidFill>
                  <a:srgbClr val="40AAA0"/>
                </a:solidFill>
                <a:latin typeface="DIN Black" pitchFamily="50" charset="0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919249" y="1488942"/>
              <a:ext cx="2972462" cy="349702"/>
            </a:xfrm>
            <a:prstGeom prst="rect">
              <a:avLst/>
            </a:prstGeom>
            <a:noFill/>
          </p:spPr>
          <p:txBody>
            <a:bodyPr wrap="square" lIns="72000" tIns="36000" rIns="0" bIns="36000" rtlCol="0" anchor="ctr" anchorCtr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2015/05/30 </a:t>
              </a:r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至 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2015/06/05</a:t>
              </a:r>
              <a:endParaRPr lang="en-US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0" name="流程图: 手动输入 49"/>
            <p:cNvSpPr/>
            <p:nvPr/>
          </p:nvSpPr>
          <p:spPr>
            <a:xfrm rot="5400000">
              <a:off x="4121071" y="1244057"/>
              <a:ext cx="396870" cy="855590"/>
            </a:xfrm>
            <a:prstGeom prst="flowChartManualInput">
              <a:avLst/>
            </a:prstGeom>
            <a:solidFill>
              <a:srgbClr val="40AA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7073620" y="2027870"/>
              <a:ext cx="1260000" cy="77678"/>
            </a:xfrm>
            <a:prstGeom prst="rect">
              <a:avLst/>
            </a:prstGeom>
            <a:solidFill>
              <a:srgbClr val="D0CE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wordArtVert" rtlCol="0" anchor="ctr"/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5496846" y="2027870"/>
              <a:ext cx="1260000" cy="77678"/>
            </a:xfrm>
            <a:prstGeom prst="rect">
              <a:avLst/>
            </a:prstGeom>
            <a:solidFill>
              <a:srgbClr val="D0CE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wordArtVert" rtlCol="0" anchor="ctr"/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3920072" y="2027870"/>
              <a:ext cx="1260000" cy="77678"/>
            </a:xfrm>
            <a:prstGeom prst="rect">
              <a:avLst/>
            </a:prstGeom>
            <a:solidFill>
              <a:srgbClr val="40AA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wordArtVert" rtlCol="0" anchor="ctr"/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766524" y="2027870"/>
              <a:ext cx="1260000" cy="77678"/>
            </a:xfrm>
            <a:prstGeom prst="rect">
              <a:avLst/>
            </a:prstGeom>
            <a:solidFill>
              <a:srgbClr val="40AA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wordArtVert" rtlCol="0" anchor="ctr"/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2343298" y="2027870"/>
              <a:ext cx="1260000" cy="77678"/>
            </a:xfrm>
            <a:prstGeom prst="rect">
              <a:avLst/>
            </a:prstGeom>
            <a:solidFill>
              <a:srgbClr val="40AA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wordArtVert" rtlCol="0" anchor="ctr"/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060989" y="186518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+mj-ea"/>
                  <a:ea typeface="+mj-ea"/>
                </a:rPr>
                <a:t>6.06</a:t>
              </a:r>
              <a:endParaRPr lang="zh-CN" altLang="en-US" b="1" dirty="0">
                <a:latin typeface="+mj-ea"/>
                <a:ea typeface="+mj-ea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2641192" y="186518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+mj-ea"/>
                  <a:ea typeface="+mj-ea"/>
                </a:rPr>
                <a:t>6.07</a:t>
              </a:r>
              <a:endParaRPr lang="zh-CN" altLang="en-US" b="1" dirty="0">
                <a:latin typeface="+mj-ea"/>
                <a:ea typeface="+mj-ea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4221395" y="186518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+mj-ea"/>
                  <a:ea typeface="+mj-ea"/>
                </a:rPr>
                <a:t>6.08</a:t>
              </a:r>
              <a:endParaRPr lang="zh-CN" altLang="en-US" b="1" dirty="0">
                <a:latin typeface="+mj-ea"/>
                <a:ea typeface="+mj-ea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5801598" y="186518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r>
                <a:rPr lang="en-US" altLang="zh-CN" dirty="0"/>
                <a:t>6.09</a:t>
              </a:r>
              <a:endParaRPr lang="zh-CN" altLang="en-US" dirty="0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7381801" y="186518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defRPr>
              </a:lvl1pPr>
            </a:lstStyle>
            <a:p>
              <a:r>
                <a:rPr lang="en-US" altLang="zh-CN" dirty="0"/>
                <a:t>6.10</a:t>
              </a:r>
              <a:endParaRPr lang="zh-CN" altLang="en-US" dirty="0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8962004" y="186518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1">
                      <a:lumMod val="65000"/>
                    </a:schemeClr>
                  </a:solidFill>
                  <a:latin typeface="+mj-ea"/>
                  <a:ea typeface="+mj-ea"/>
                </a:rPr>
                <a:t>6.11</a:t>
              </a:r>
              <a:endParaRPr lang="zh-CN" altLang="en-US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3" name="圆角矩形 82"/>
          <p:cNvSpPr/>
          <p:nvPr/>
        </p:nvSpPr>
        <p:spPr>
          <a:xfrm>
            <a:off x="2238826" y="2861779"/>
            <a:ext cx="1296444" cy="328961"/>
          </a:xfrm>
          <a:prstGeom prst="roundRect">
            <a:avLst>
              <a:gd name="adj" fmla="val 50000"/>
            </a:avLst>
          </a:prstGeom>
          <a:solidFill>
            <a:srgbClr val="C56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/>
            <a:r>
              <a:rPr lang="en-US" altLang="zh-CN" sz="1200" dirty="0">
                <a:solidFill>
                  <a:srgbClr val="FFFFFF"/>
                </a:solidFill>
                <a:latin typeface="Aldo" panose="02000506000000020004" pitchFamily="2" charset="0"/>
              </a:rPr>
              <a:t>EDW</a:t>
            </a:r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数据结构对接</a:t>
            </a:r>
            <a:endParaRPr lang="en-US" sz="1200" dirty="0">
              <a:solidFill>
                <a:srgbClr val="FFFFFF"/>
              </a:solidFill>
              <a:latin typeface="Aldo" panose="02000506000000020004" pitchFamily="2" charset="0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766524" y="2104156"/>
            <a:ext cx="2932634" cy="270000"/>
          </a:xfrm>
          <a:prstGeom prst="roundRect">
            <a:avLst>
              <a:gd name="adj" fmla="val 50000"/>
            </a:avLst>
          </a:prstGeom>
          <a:solidFill>
            <a:srgbClr val="40AA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开发环境加内存</a:t>
            </a:r>
            <a:endParaRPr lang="en-US" sz="1200" dirty="0">
              <a:solidFill>
                <a:srgbClr val="FFFFFF"/>
              </a:solidFill>
              <a:latin typeface="Aldo" panose="02000506000000020004" pitchFamily="2" charset="0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3899544" y="4942029"/>
            <a:ext cx="1296444" cy="270000"/>
          </a:xfrm>
          <a:prstGeom prst="roundRect">
            <a:avLst>
              <a:gd name="adj" fmla="val 50000"/>
            </a:avLst>
          </a:prstGeom>
          <a:solidFill>
            <a:srgbClr val="40AA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周例会</a:t>
            </a:r>
            <a:endParaRPr lang="en-US" sz="1200" dirty="0">
              <a:solidFill>
                <a:srgbClr val="FFFFFF"/>
              </a:solidFill>
              <a:latin typeface="Aldo" panose="02000506000000020004" pitchFamily="2" charset="0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752336" y="3767177"/>
            <a:ext cx="1400573" cy="270000"/>
          </a:xfrm>
          <a:prstGeom prst="roundRect">
            <a:avLst>
              <a:gd name="adj" fmla="val 50000"/>
            </a:avLst>
          </a:prstGeom>
          <a:solidFill>
            <a:srgbClr val="7970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用户画像</a:t>
            </a:r>
            <a:r>
              <a:rPr lang="en-US" altLang="zh-CN" sz="1200" dirty="0">
                <a:solidFill>
                  <a:srgbClr val="FFFFFF"/>
                </a:solidFill>
                <a:latin typeface="Aldo" panose="02000506000000020004" pitchFamily="2" charset="0"/>
              </a:rPr>
              <a:t>UI</a:t>
            </a:r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讨论</a:t>
            </a:r>
            <a:endParaRPr lang="en-US" sz="1200" dirty="0">
              <a:solidFill>
                <a:srgbClr val="FFFFFF"/>
              </a:solidFill>
              <a:latin typeface="Aldo" panose="02000506000000020004" pitchFamily="2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760411" y="2246552"/>
            <a:ext cx="4149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端            午             节</a:t>
            </a:r>
          </a:p>
        </p:txBody>
      </p:sp>
      <p:sp>
        <p:nvSpPr>
          <p:cNvPr id="47" name="圆角矩形 46"/>
          <p:cNvSpPr/>
          <p:nvPr/>
        </p:nvSpPr>
        <p:spPr>
          <a:xfrm>
            <a:off x="812924" y="2861779"/>
            <a:ext cx="1296444" cy="328961"/>
          </a:xfrm>
          <a:prstGeom prst="roundRect">
            <a:avLst>
              <a:gd name="adj" fmla="val 50000"/>
            </a:avLst>
          </a:prstGeom>
          <a:solidFill>
            <a:srgbClr val="C56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/>
            <a:r>
              <a:rPr lang="en-US" altLang="zh-CN" sz="1200" dirty="0">
                <a:solidFill>
                  <a:srgbClr val="FFFFFF"/>
                </a:solidFill>
                <a:latin typeface="Aldo" panose="02000506000000020004" pitchFamily="2" charset="0"/>
              </a:rPr>
              <a:t>U+</a:t>
            </a:r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数据对接</a:t>
            </a:r>
            <a:endParaRPr lang="en-US" sz="1200" dirty="0">
              <a:solidFill>
                <a:srgbClr val="FFFFFF"/>
              </a:solidFill>
              <a:latin typeface="Aldo" panose="02000506000000020004" pitchFamily="2" charset="0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2238531" y="3771963"/>
            <a:ext cx="3097406" cy="270000"/>
          </a:xfrm>
          <a:prstGeom prst="roundRect">
            <a:avLst>
              <a:gd name="adj" fmla="val 50000"/>
            </a:avLst>
          </a:prstGeom>
          <a:solidFill>
            <a:srgbClr val="7970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用户画像</a:t>
            </a:r>
            <a:r>
              <a:rPr lang="en-US" altLang="zh-CN" sz="1200" dirty="0">
                <a:solidFill>
                  <a:srgbClr val="FFFFFF"/>
                </a:solidFill>
                <a:latin typeface="Aldo" panose="02000506000000020004" pitchFamily="2" charset="0"/>
              </a:rPr>
              <a:t>UI</a:t>
            </a:r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优化</a:t>
            </a:r>
            <a:endParaRPr lang="en-US" sz="1200" dirty="0">
              <a:solidFill>
                <a:srgbClr val="FFFFFF"/>
              </a:solidFill>
              <a:latin typeface="Aldo" panose="02000506000000020004" pitchFamily="2" charset="0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823769" y="3276080"/>
            <a:ext cx="1336061" cy="328961"/>
          </a:xfrm>
          <a:prstGeom prst="roundRect">
            <a:avLst>
              <a:gd name="adj" fmla="val 50000"/>
            </a:avLst>
          </a:prstGeom>
          <a:solidFill>
            <a:srgbClr val="C56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调研严惠全流程节点</a:t>
            </a:r>
            <a:endParaRPr lang="en-US" sz="1200" dirty="0">
              <a:solidFill>
                <a:srgbClr val="FFFFFF"/>
              </a:solidFill>
              <a:latin typeface="Aldo" panose="02000506000000020004" pitchFamily="2" charset="0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3843994" y="2881557"/>
            <a:ext cx="1296444" cy="328961"/>
          </a:xfrm>
          <a:prstGeom prst="roundRect">
            <a:avLst>
              <a:gd name="adj" fmla="val 50000"/>
            </a:avLst>
          </a:prstGeom>
          <a:solidFill>
            <a:srgbClr val="C56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/>
            <a:r>
              <a:rPr lang="zh-CN" altLang="en-US" sz="1200" dirty="0">
                <a:solidFill>
                  <a:srgbClr val="FFFFFF"/>
                </a:solidFill>
                <a:latin typeface="Aldo" panose="02000506000000020004" pitchFamily="2" charset="0"/>
              </a:rPr>
              <a:t>云图数据对接</a:t>
            </a:r>
            <a:endParaRPr lang="en-US" sz="1200" dirty="0">
              <a:solidFill>
                <a:srgbClr val="FFFFFF"/>
              </a:solidFill>
              <a:latin typeface="Aldo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374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jeff1">
      <a:majorFont>
        <a:latin typeface="Segoe UI Light"/>
        <a:ea typeface="黑体"/>
        <a:cs typeface=""/>
      </a:majorFont>
      <a:minorFont>
        <a:latin typeface="Segoe UI Light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17177</TotalTime>
  <Words>311</Words>
  <Application>Microsoft Office PowerPoint</Application>
  <PresentationFormat>宽屏</PresentationFormat>
  <Paragraphs>70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Aldo</vt:lpstr>
      <vt:lpstr>DIN Black</vt:lpstr>
      <vt:lpstr>等线</vt:lpstr>
      <vt:lpstr>黑体</vt:lpstr>
      <vt:lpstr>微软雅黑</vt:lpstr>
      <vt:lpstr>Arial</vt:lpstr>
      <vt:lpstr>Segoe UI Light</vt:lpstr>
      <vt:lpstr>Office 主题​​</vt:lpstr>
      <vt:lpstr>Haier用户定制应用分析支持项目</vt:lpstr>
      <vt:lpstr>本周工作进度</vt:lpstr>
      <vt:lpstr>项目问题及风险跟踪</vt:lpstr>
      <vt:lpstr>下周工作计划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jeffzhu4</dc:creator>
  <cp:lastModifiedBy>KevinLi</cp:lastModifiedBy>
  <cp:revision>956</cp:revision>
  <dcterms:created xsi:type="dcterms:W3CDTF">2016-03-15T12:24:22Z</dcterms:created>
  <dcterms:modified xsi:type="dcterms:W3CDTF">2016-06-03T10:08:39Z</dcterms:modified>
</cp:coreProperties>
</file>