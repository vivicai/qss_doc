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78" r:id="rId2"/>
    <p:sldId id="413" r:id="rId3"/>
    <p:sldId id="411" r:id="rId4"/>
    <p:sldId id="395" r:id="rId5"/>
    <p:sldId id="412" r:id="rId6"/>
    <p:sldId id="414" r:id="rId7"/>
    <p:sldId id="417" r:id="rId8"/>
    <p:sldId id="415" r:id="rId9"/>
    <p:sldId id="416" r:id="rId10"/>
    <p:sldId id="409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57">
          <p15:clr>
            <a:srgbClr val="A4A3A4"/>
          </p15:clr>
        </p15:guide>
        <p15:guide id="2" pos="4151">
          <p15:clr>
            <a:srgbClr val="A4A3A4"/>
          </p15:clr>
        </p15:guide>
        <p15:guide id="3" pos="499">
          <p15:clr>
            <a:srgbClr val="A4A3A4"/>
          </p15:clr>
        </p15:guide>
        <p15:guide id="4" orient="horz" pos="709">
          <p15:clr>
            <a:srgbClr val="A4A3A4"/>
          </p15:clr>
        </p15:guide>
        <p15:guide id="5" pos="5155">
          <p15:clr>
            <a:srgbClr val="A4A3A4"/>
          </p15:clr>
        </p15:guide>
        <p15:guide id="6" pos="46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A447"/>
    <a:srgbClr val="B48981"/>
    <a:srgbClr val="776E80"/>
    <a:srgbClr val="3DAAA0"/>
    <a:srgbClr val="C7E3F5"/>
    <a:srgbClr val="9DCFED"/>
    <a:srgbClr val="80C0E8"/>
    <a:srgbClr val="59ADE1"/>
    <a:srgbClr val="3FA1DD"/>
    <a:srgbClr val="B0D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59" autoAdjust="0"/>
    <p:restoredTop sz="98131" autoAdjust="0"/>
  </p:normalViewPr>
  <p:slideViewPr>
    <p:cSldViewPr snapToGrid="0">
      <p:cViewPr varScale="1">
        <p:scale>
          <a:sx n="74" d="100"/>
          <a:sy n="74" d="100"/>
        </p:scale>
        <p:origin x="492" y="66"/>
      </p:cViewPr>
      <p:guideLst>
        <p:guide orient="horz" pos="1057"/>
        <p:guide pos="4151"/>
        <p:guide pos="499"/>
        <p:guide orient="horz" pos="709"/>
        <p:guide pos="5155"/>
        <p:guide pos="467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BC92C-9244-456F-99CB-429749FEC58A}" type="datetimeFigureOut">
              <a:rPr lang="zh-CN" altLang="en-US" smtClean="0"/>
              <a:t>2017/7/10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A634EC-9969-497C-8A3A-339D48BDB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088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634EC-9969-497C-8A3A-339D48BDBCB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063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634EC-9969-497C-8A3A-339D48BDBCB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845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634EC-9969-497C-8A3A-339D48BDBCB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475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634EC-9969-497C-8A3A-339D48BDBCB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063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634EC-9969-497C-8A3A-339D48BDBCB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741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634EC-9969-497C-8A3A-339D48BDBCB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330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634EC-9969-497C-8A3A-339D48BDBCB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933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634EC-9969-497C-8A3A-339D48BDBCB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5159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634EC-9969-497C-8A3A-339D48BDBCB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533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57FCE-B695-4179-8C96-2978C3207FBA}" type="datetime1">
              <a:rPr lang="zh-CN" altLang="en-US" smtClean="0"/>
              <a:t>2017/7/10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C44D-BADB-438C-891A-0E9573948B2C}" type="datetime1">
              <a:rPr lang="zh-CN" altLang="en-US" smtClean="0"/>
              <a:t>2017/7/10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1691F-7A24-4268-9DD6-92342410E71D}" type="datetime1">
              <a:rPr lang="zh-CN" altLang="en-US" smtClean="0"/>
              <a:t>2017/7/10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4F50-0AB1-4EB1-8122-075B25F7D6FB}" type="datetime1">
              <a:rPr lang="zh-CN" altLang="en-US" smtClean="0"/>
              <a:t>2017/7/10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CC694-3086-48A4-BA9A-8406044FE57B}" type="datetime1">
              <a:rPr lang="zh-CN" altLang="en-US" smtClean="0"/>
              <a:t>2017/7/10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AC37-9C26-4DB2-A318-BED587A8B794}" type="datetime1">
              <a:rPr lang="zh-CN" altLang="en-US" smtClean="0"/>
              <a:t>2017/7/10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E0C6-5756-4B06-854F-3BA6A3B8928C}" type="datetime1">
              <a:rPr lang="zh-CN" altLang="en-US" smtClean="0"/>
              <a:t>2017/7/10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96BE-7E15-4090-86DC-F44F78F2DFB0}" type="datetime1">
              <a:rPr lang="zh-CN" altLang="en-US" smtClean="0"/>
              <a:t>2017/7/10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D4F9-C8F3-4B27-A444-DCB3A5F13130}" type="datetime1">
              <a:rPr lang="zh-CN" altLang="en-US" smtClean="0"/>
              <a:t>2017/7/10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F6069-4040-4EAC-B41C-B5F3C484F785}" type="datetime1">
              <a:rPr lang="zh-CN" altLang="en-US" smtClean="0"/>
              <a:t>2017/7/10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CBF8C-C3E5-4CD6-A55D-7CF4DAC48690}" type="datetime1">
              <a:rPr lang="zh-CN" altLang="en-US" smtClean="0"/>
              <a:t>2017/7/10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86425" y="300039"/>
            <a:ext cx="8412607" cy="606361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1380572" y="6319280"/>
            <a:ext cx="580769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3714" y="287847"/>
            <a:ext cx="1416250" cy="61855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 flipH="1">
            <a:off x="1840706" y="300039"/>
            <a:ext cx="45719" cy="618553"/>
          </a:xfrm>
          <a:prstGeom prst="rect">
            <a:avLst/>
          </a:prstGeom>
          <a:solidFill>
            <a:srgbClr val="448D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65A0C4"/>
              </a:solidFill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2"/>
          </p:nvPr>
        </p:nvSpPr>
        <p:spPr>
          <a:xfrm>
            <a:off x="794738" y="1206417"/>
            <a:ext cx="10450297" cy="19899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rgbClr val="343434"/>
                </a:solidFill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856" y="300039"/>
            <a:ext cx="1616485" cy="536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42901" y="236025"/>
            <a:ext cx="11506198" cy="770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1" y="1422400"/>
            <a:ext cx="11506198" cy="4644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6A957-69F8-456E-B862-FB743A2D5258}" type="datetime1">
              <a:rPr lang="zh-CN" altLang="en-US" smtClean="0"/>
              <a:t>2017/7/10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CEBF1-E09E-4C9D-88C1-61BEB77D5A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rgbClr val="004C9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Segoe UI Light" panose="020B0502040204020203" pitchFamily="34" charset="0"/>
        <a:buChar char="⁄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Segoe UI Light" panose="020B0502040204020203" pitchFamily="34" charset="0"/>
        <a:buChar char="›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Segoe UI Light" panose="020B0502040204020203" pitchFamily="34" charset="0"/>
        <a:buChar char="₋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520719" cy="2387600"/>
          </a:xfrm>
        </p:spPr>
        <p:txBody>
          <a:bodyPr>
            <a:normAutofit/>
          </a:bodyPr>
          <a:lstStyle/>
          <a:p>
            <a:r>
              <a:rPr lang="en-US" altLang="zh-CN" sz="4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Haier</a:t>
            </a:r>
            <a:r>
              <a:rPr lang="zh-CN" altLang="en-US" sz="4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用户定制应用分析支持项目</a:t>
            </a:r>
            <a:r>
              <a:rPr lang="en-US" altLang="zh-CN" sz="4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4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4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上线详细计划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analyticservice.net</a:t>
            </a:r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2017-07-10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项目上线活动清单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199650"/>
              </p:ext>
            </p:extLst>
          </p:nvPr>
        </p:nvGraphicFramePr>
        <p:xfrm>
          <a:off x="318053" y="1226881"/>
          <a:ext cx="11648660" cy="5253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813"/>
                <a:gridCol w="6585112"/>
                <a:gridCol w="1253043"/>
                <a:gridCol w="1727879"/>
                <a:gridCol w="1241813"/>
              </a:tblGrid>
              <a:tr h="411252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活动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完成时限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责任人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</a:tr>
              <a:tr h="66961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用户画像</a:t>
                      </a:r>
                      <a:r>
                        <a:rPr lang="zh-CN" altLang="en-US" dirty="0" smtClean="0"/>
                        <a:t>、设计师画像模块</a:t>
                      </a:r>
                      <a:r>
                        <a:rPr lang="zh-CN" altLang="en-US" dirty="0" smtClean="0"/>
                        <a:t>第一轮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的</a:t>
                      </a:r>
                      <a:r>
                        <a:rPr lang="en-US" altLang="zh-CN" dirty="0" smtClean="0"/>
                        <a:t>bug</a:t>
                      </a:r>
                      <a:r>
                        <a:rPr lang="zh-CN" altLang="en-US" dirty="0" smtClean="0"/>
                        <a:t>优化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7-12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徐万杰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荆汉娜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66961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用户画像</a:t>
                      </a:r>
                      <a:r>
                        <a:rPr lang="zh-CN" altLang="en-US" dirty="0" smtClean="0"/>
                        <a:t>、设计师画像模块</a:t>
                      </a:r>
                      <a:r>
                        <a:rPr lang="zh-CN" altLang="en-US" dirty="0" smtClean="0"/>
                        <a:t>第二轮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测试及结果反馈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7-14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邹晓慧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66961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用户画像</a:t>
                      </a:r>
                      <a:r>
                        <a:rPr lang="zh-CN" altLang="en-US" dirty="0" smtClean="0"/>
                        <a:t>、设计师画像模块</a:t>
                      </a:r>
                      <a:r>
                        <a:rPr lang="zh-CN" altLang="en-US" dirty="0" smtClean="0"/>
                        <a:t>第二轮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的</a:t>
                      </a:r>
                      <a:r>
                        <a:rPr lang="en-US" altLang="zh-CN" dirty="0" smtClean="0"/>
                        <a:t>bug</a:t>
                      </a:r>
                      <a:r>
                        <a:rPr lang="zh-CN" altLang="en-US" dirty="0" smtClean="0"/>
                        <a:t>优化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7-18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徐万杰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荆汉娜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11252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用户群画像、产品画像、舆情</a:t>
                      </a:r>
                      <a:r>
                        <a:rPr lang="zh-CN" altLang="en-US" dirty="0" smtClean="0"/>
                        <a:t>、竞品模块</a:t>
                      </a:r>
                      <a:r>
                        <a:rPr lang="en-US" altLang="zh-CN" dirty="0" smtClean="0"/>
                        <a:t>bug</a:t>
                      </a:r>
                      <a:r>
                        <a:rPr lang="zh-CN" altLang="en-US" dirty="0" smtClean="0"/>
                        <a:t>优化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7-12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徐万杰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荆汉娜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11252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用户群画像、产品画像、舆情</a:t>
                      </a:r>
                      <a:r>
                        <a:rPr lang="zh-CN" altLang="en-US" dirty="0" smtClean="0"/>
                        <a:t>、竞品模块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测试及结果反馈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7-14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邹晓慧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11252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用户群画像、产品画像、舆情</a:t>
                      </a:r>
                      <a:r>
                        <a:rPr lang="zh-CN" altLang="en-US" dirty="0" smtClean="0"/>
                        <a:t>、竞品模块</a:t>
                      </a:r>
                      <a:r>
                        <a:rPr lang="en-US" altLang="zh-CN" dirty="0" err="1" smtClean="0"/>
                        <a:t>UATbug</a:t>
                      </a:r>
                      <a:r>
                        <a:rPr lang="zh-CN" altLang="en-US" dirty="0" smtClean="0"/>
                        <a:t>优化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7-17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徐万杰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荆汉娜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11252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推荐（无行为用户）模块开发、测试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7-14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荆汉娜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9799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推荐（有行为用户）模块第一轮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测试及结果反馈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7-14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邹晓慧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0770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推荐（无行为用户）模块第一轮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测试及结果反馈</a:t>
                      </a:r>
                      <a:endParaRPr lang="en-US" altLang="zh-C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7-14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邹晓慧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82637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推荐模块第一轮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的</a:t>
                      </a:r>
                      <a:r>
                        <a:rPr lang="en-US" altLang="zh-CN" dirty="0" smtClean="0"/>
                        <a:t>bug</a:t>
                      </a:r>
                      <a:r>
                        <a:rPr lang="zh-CN" altLang="en-US" dirty="0" smtClean="0"/>
                        <a:t>优化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7-18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荆汉娜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9261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项目上线活动清单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707585"/>
              </p:ext>
            </p:extLst>
          </p:nvPr>
        </p:nvGraphicFramePr>
        <p:xfrm>
          <a:off x="384312" y="1194002"/>
          <a:ext cx="10511214" cy="48754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072"/>
                <a:gridCol w="4763105"/>
                <a:gridCol w="1291207"/>
                <a:gridCol w="2570921"/>
                <a:gridCol w="1035909"/>
              </a:tblGrid>
              <a:tr h="408359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活动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完成时限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责任人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</a:tr>
              <a:tr h="408359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推荐模块第二轮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测试及结果反馈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7-19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邹晓慧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08359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推荐模块第二轮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的</a:t>
                      </a:r>
                      <a:r>
                        <a:rPr lang="en-US" altLang="zh-CN" dirty="0" smtClean="0"/>
                        <a:t>bug</a:t>
                      </a:r>
                      <a:r>
                        <a:rPr lang="zh-CN" altLang="en-US" dirty="0" smtClean="0"/>
                        <a:t>优化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7-20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荆汉娜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08359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报表（</a:t>
                      </a:r>
                      <a:r>
                        <a:rPr lang="en-US" altLang="zh-CN" dirty="0" smtClean="0"/>
                        <a:t>14</a:t>
                      </a:r>
                      <a:r>
                        <a:rPr lang="zh-CN" altLang="en-US" dirty="0" smtClean="0"/>
                        <a:t>张）内测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7-12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宋淑娟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08359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表内测</a:t>
                      </a:r>
                      <a:r>
                        <a:rPr lang="en-US" altLang="zh-CN" dirty="0" smtClean="0"/>
                        <a:t>bug</a:t>
                      </a:r>
                      <a:r>
                        <a:rPr lang="zh-CN" altLang="en-US" dirty="0" smtClean="0"/>
                        <a:t>优化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7-17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徐万杰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荆汉娜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08359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报表第一轮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测试及反馈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7-19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邹晓慧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08359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报表第一轮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的</a:t>
                      </a:r>
                      <a:r>
                        <a:rPr lang="en-US" altLang="zh-CN" dirty="0" smtClean="0"/>
                        <a:t>bug</a:t>
                      </a:r>
                      <a:r>
                        <a:rPr lang="zh-CN" altLang="en-US" dirty="0" smtClean="0"/>
                        <a:t>优化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7-21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徐万杰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荆汉娜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08359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报表第二轮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测试及反馈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7-25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邹晓慧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08359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报表第二轮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的</a:t>
                      </a:r>
                      <a:r>
                        <a:rPr lang="en-US" altLang="zh-CN" dirty="0" smtClean="0"/>
                        <a:t>bug</a:t>
                      </a:r>
                      <a:r>
                        <a:rPr lang="zh-CN" altLang="en-US" dirty="0" smtClean="0"/>
                        <a:t>优化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7-27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徐万杰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荆汉娜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60013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交付文档完善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7-25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徐万杰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荆汉娜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宋淑娟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60013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发起</a:t>
                      </a:r>
                      <a:r>
                        <a:rPr lang="zh-CN" altLang="en-US" dirty="0" smtClean="0"/>
                        <a:t>上线流程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7-28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邹晓慧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卢瑾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刘向伦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74079" y="299752"/>
            <a:ext cx="8412607" cy="606361"/>
          </a:xfrm>
        </p:spPr>
        <p:txBody>
          <a:bodyPr/>
          <a:lstStyle/>
          <a:p>
            <a:r>
              <a:rPr lang="zh-CN" altLang="en-US" dirty="0" smtClean="0"/>
              <a:t>上线计划甘特图</a:t>
            </a:r>
            <a:endParaRPr lang="zh-CN" altLang="en-US" dirty="0"/>
          </a:p>
        </p:txBody>
      </p:sp>
      <p:cxnSp>
        <p:nvCxnSpPr>
          <p:cNvPr id="4" name="直接箭头连接符 3"/>
          <p:cNvCxnSpPr/>
          <p:nvPr/>
        </p:nvCxnSpPr>
        <p:spPr>
          <a:xfrm flipH="1" flipV="1">
            <a:off x="1191895" y="965788"/>
            <a:ext cx="13335" cy="49098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V="1">
            <a:off x="810260" y="5559378"/>
            <a:ext cx="10985500" cy="527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843530" y="1005158"/>
            <a:ext cx="52705" cy="459359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616450" y="1010238"/>
            <a:ext cx="52705" cy="459359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6536690" y="994998"/>
            <a:ext cx="52705" cy="459359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436610" y="1005158"/>
            <a:ext cx="52705" cy="459359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0361930" y="979758"/>
            <a:ext cx="52705" cy="459359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792480" y="5750513"/>
            <a:ext cx="16306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2017-07-10</a:t>
            </a:r>
            <a:endParaRPr lang="en-US" altLang="zh-CN" sz="1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2423160" y="5750513"/>
            <a:ext cx="16306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2017-07-17</a:t>
            </a:r>
            <a:endParaRPr lang="en-US" altLang="zh-CN" sz="1400" dirty="0"/>
          </a:p>
        </p:txBody>
      </p:sp>
      <p:sp>
        <p:nvSpPr>
          <p:cNvPr id="15" name="文本框 14"/>
          <p:cNvSpPr txBox="1"/>
          <p:nvPr/>
        </p:nvSpPr>
        <p:spPr>
          <a:xfrm>
            <a:off x="4109720" y="5745433"/>
            <a:ext cx="16306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2017-07-24</a:t>
            </a:r>
            <a:endParaRPr lang="en-US" altLang="zh-CN" sz="1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6019800" y="5730193"/>
            <a:ext cx="16306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2017-07-31</a:t>
            </a:r>
            <a:endParaRPr lang="en-US" altLang="zh-CN" sz="1400" dirty="0"/>
          </a:p>
        </p:txBody>
      </p:sp>
      <p:sp>
        <p:nvSpPr>
          <p:cNvPr id="17" name="文本框 16"/>
          <p:cNvSpPr txBox="1"/>
          <p:nvPr/>
        </p:nvSpPr>
        <p:spPr>
          <a:xfrm>
            <a:off x="7879080" y="5730193"/>
            <a:ext cx="16306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2017-08-07</a:t>
            </a:r>
            <a:endParaRPr lang="en-US" altLang="zh-CN" sz="1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804400" y="5704793"/>
            <a:ext cx="16306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2017-08-14</a:t>
            </a:r>
            <a:endParaRPr lang="en-US" altLang="zh-CN" sz="1400" dirty="0"/>
          </a:p>
        </p:txBody>
      </p:sp>
      <p:sp>
        <p:nvSpPr>
          <p:cNvPr id="3" name="文本框 2"/>
          <p:cNvSpPr txBox="1"/>
          <p:nvPr/>
        </p:nvSpPr>
        <p:spPr>
          <a:xfrm>
            <a:off x="1133795" y="2776578"/>
            <a:ext cx="3099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用户画像、用户群画像、设计师画像、产品画像</a:t>
            </a:r>
            <a:r>
              <a:rPr lang="zh-CN" altLang="en-US" sz="1400" dirty="0" smtClean="0"/>
              <a:t>模块复合上线条件</a:t>
            </a:r>
            <a:endParaRPr lang="zh-CN" altLang="en-US" sz="1400" dirty="0"/>
          </a:p>
        </p:txBody>
      </p:sp>
      <p:sp>
        <p:nvSpPr>
          <p:cNvPr id="8" name="矩形 7"/>
          <p:cNvSpPr/>
          <p:nvPr/>
        </p:nvSpPr>
        <p:spPr>
          <a:xfrm>
            <a:off x="1204911" y="2440987"/>
            <a:ext cx="1978479" cy="283107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151890" y="3648288"/>
            <a:ext cx="28555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舆情、竞品</a:t>
            </a:r>
            <a:r>
              <a:rPr lang="zh-CN" altLang="en-US" sz="1400" dirty="0" smtClean="0"/>
              <a:t>模块符合上线条件</a:t>
            </a:r>
            <a:endParaRPr lang="zh-CN" altLang="en-US" sz="1400" dirty="0"/>
          </a:p>
        </p:txBody>
      </p:sp>
      <p:sp>
        <p:nvSpPr>
          <p:cNvPr id="30" name="矩形 29"/>
          <p:cNvSpPr/>
          <p:nvPr/>
        </p:nvSpPr>
        <p:spPr>
          <a:xfrm>
            <a:off x="1205231" y="1580358"/>
            <a:ext cx="4126624" cy="287967"/>
          </a:xfrm>
          <a:prstGeom prst="rect">
            <a:avLst/>
          </a:prstGeom>
          <a:pattFill prst="pct10">
            <a:fgClr>
              <a:srgbClr val="5B9BD5"/>
            </a:fgClr>
            <a:bgClr>
              <a:srgbClr val="FFFFFF"/>
            </a:bgClr>
          </a:patt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1946295" y="4887506"/>
            <a:ext cx="4060169" cy="282469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768471" y="4447452"/>
            <a:ext cx="28555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推荐模块符合上线条件</a:t>
            </a:r>
            <a:endParaRPr lang="zh-CN" altLang="en-US" sz="1400" dirty="0"/>
          </a:p>
        </p:txBody>
      </p:sp>
      <p:sp>
        <p:nvSpPr>
          <p:cNvPr id="33" name="矩形 32"/>
          <p:cNvSpPr/>
          <p:nvPr/>
        </p:nvSpPr>
        <p:spPr>
          <a:xfrm>
            <a:off x="3925091" y="6250498"/>
            <a:ext cx="312057" cy="303668"/>
          </a:xfrm>
          <a:prstGeom prst="rect">
            <a:avLst/>
          </a:prstGeom>
          <a:pattFill prst="pct10">
            <a:fgClr>
              <a:srgbClr val="5B9BD5"/>
            </a:fgClr>
            <a:bgClr>
              <a:srgbClr val="FFFFFF"/>
            </a:bgClr>
          </a:patt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557593" y="6269844"/>
            <a:ext cx="328832" cy="3107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1845198" y="6260554"/>
            <a:ext cx="1325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较明确的任务</a:t>
            </a:r>
            <a:endParaRPr lang="zh-CN" altLang="en-US" sz="1400" dirty="0"/>
          </a:p>
        </p:txBody>
      </p:sp>
      <p:sp>
        <p:nvSpPr>
          <p:cNvPr id="37" name="文本框 36"/>
          <p:cNvSpPr txBox="1"/>
          <p:nvPr/>
        </p:nvSpPr>
        <p:spPr>
          <a:xfrm>
            <a:off x="4199885" y="6258406"/>
            <a:ext cx="3063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需要渐进明细或者非全时参与的任务</a:t>
            </a:r>
            <a:endParaRPr lang="zh-CN" altLang="en-US" sz="1400" dirty="0"/>
          </a:p>
        </p:txBody>
      </p:sp>
      <p:sp>
        <p:nvSpPr>
          <p:cNvPr id="28" name="矩形 27"/>
          <p:cNvSpPr/>
          <p:nvPr/>
        </p:nvSpPr>
        <p:spPr>
          <a:xfrm>
            <a:off x="1228385" y="3391909"/>
            <a:ext cx="1654972" cy="29453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741395" y="4098101"/>
            <a:ext cx="2302445" cy="32067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1933750" y="5127888"/>
            <a:ext cx="28555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报表符合上线条件</a:t>
            </a:r>
            <a:endParaRPr lang="zh-CN" altLang="en-US" sz="1400" dirty="0"/>
          </a:p>
        </p:txBody>
      </p:sp>
      <p:sp>
        <p:nvSpPr>
          <p:cNvPr id="40" name="文本框 39"/>
          <p:cNvSpPr txBox="1"/>
          <p:nvPr/>
        </p:nvSpPr>
        <p:spPr>
          <a:xfrm>
            <a:off x="1493722" y="1854505"/>
            <a:ext cx="28555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上线交付文档完成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责任到人活动交付列表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626903"/>
              </p:ext>
            </p:extLst>
          </p:nvPr>
        </p:nvGraphicFramePr>
        <p:xfrm>
          <a:off x="730366" y="1326522"/>
          <a:ext cx="11024315" cy="4660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2175"/>
                <a:gridCol w="1457739"/>
                <a:gridCol w="7394713"/>
                <a:gridCol w="1139688"/>
              </a:tblGrid>
              <a:tr h="449269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责任人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交付期限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交付活动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</a:tr>
              <a:tr h="435540">
                <a:tc rowSpan="7"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徐万杰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r>
                        <a:rPr lang="zh-CN" altLang="en-US" dirty="0" smtClean="0"/>
                        <a:t>月</a:t>
                      </a:r>
                      <a:r>
                        <a:rPr lang="en-US" altLang="zh-CN" dirty="0" smtClean="0"/>
                        <a:t>12</a:t>
                      </a:r>
                      <a:r>
                        <a:rPr lang="zh-CN" altLang="en-US" dirty="0" smtClean="0"/>
                        <a:t>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、用户画像</a:t>
                      </a:r>
                      <a:r>
                        <a:rPr lang="zh-CN" altLang="en-US" dirty="0" smtClean="0"/>
                        <a:t>、用户群画像、设计师画像、产品画像模块</a:t>
                      </a:r>
                      <a:r>
                        <a:rPr lang="zh-CN" altLang="en-US" dirty="0" smtClean="0"/>
                        <a:t>第一轮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的</a:t>
                      </a:r>
                      <a:r>
                        <a:rPr lang="en-US" altLang="zh-CN" dirty="0" smtClean="0"/>
                        <a:t>bug</a:t>
                      </a:r>
                      <a:r>
                        <a:rPr lang="zh-CN" altLang="en-US" dirty="0" smtClean="0"/>
                        <a:t>优化</a:t>
                      </a:r>
                    </a:p>
                    <a:p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、舆情、竞品模块</a:t>
                      </a:r>
                      <a:r>
                        <a:rPr lang="en-US" altLang="zh-CN" dirty="0" smtClean="0"/>
                        <a:t>bug</a:t>
                      </a:r>
                      <a:r>
                        <a:rPr lang="zh-CN" altLang="en-US" dirty="0" smtClean="0"/>
                        <a:t>优化 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35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r>
                        <a:rPr lang="zh-CN" altLang="en-US" dirty="0" smtClean="0"/>
                        <a:t>月</a:t>
                      </a:r>
                      <a:r>
                        <a:rPr lang="en-US" altLang="zh-CN" dirty="0" smtClean="0"/>
                        <a:t>17</a:t>
                      </a:r>
                      <a:r>
                        <a:rPr lang="zh-CN" altLang="en-US" dirty="0" smtClean="0"/>
                        <a:t>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、报表内测</a:t>
                      </a:r>
                      <a:r>
                        <a:rPr lang="en-US" altLang="zh-CN" dirty="0" smtClean="0"/>
                        <a:t>bug</a:t>
                      </a:r>
                      <a:r>
                        <a:rPr lang="zh-CN" altLang="en-US" dirty="0" smtClean="0"/>
                        <a:t>优化</a:t>
                      </a:r>
                    </a:p>
                    <a:p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、舆情</a:t>
                      </a:r>
                      <a:r>
                        <a:rPr lang="zh-CN" altLang="en-US" dirty="0" smtClean="0"/>
                        <a:t>、竞品模块</a:t>
                      </a:r>
                      <a:r>
                        <a:rPr lang="en-US" altLang="zh-CN" dirty="0" err="1" smtClean="0"/>
                        <a:t>UATbug</a:t>
                      </a:r>
                      <a:r>
                        <a:rPr lang="zh-CN" altLang="en-US" dirty="0" smtClean="0"/>
                        <a:t>优化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35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r>
                        <a:rPr lang="zh-CN" altLang="en-US" dirty="0" smtClean="0"/>
                        <a:t>月</a:t>
                      </a:r>
                      <a:r>
                        <a:rPr lang="en-US" altLang="zh-CN" dirty="0" smtClean="0"/>
                        <a:t>18</a:t>
                      </a:r>
                      <a:r>
                        <a:rPr lang="zh-CN" altLang="en-US" dirty="0" smtClean="0"/>
                        <a:t>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用户画像、用户群画像、设计师画像、产品画像模块第二轮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的</a:t>
                      </a:r>
                      <a:r>
                        <a:rPr lang="en-US" altLang="zh-CN" dirty="0" smtClean="0"/>
                        <a:t>bug</a:t>
                      </a:r>
                      <a:r>
                        <a:rPr lang="zh-CN" altLang="en-US" dirty="0" smtClean="0"/>
                        <a:t>优化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35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r>
                        <a:rPr lang="zh-CN" altLang="en-US" dirty="0" smtClean="0"/>
                        <a:t>月</a:t>
                      </a:r>
                      <a:r>
                        <a:rPr lang="en-US" altLang="zh-CN" dirty="0" smtClean="0"/>
                        <a:t>21</a:t>
                      </a:r>
                      <a:r>
                        <a:rPr lang="zh-CN" altLang="en-US" dirty="0" smtClean="0"/>
                        <a:t>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报表第一轮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的</a:t>
                      </a:r>
                      <a:r>
                        <a:rPr lang="en-US" altLang="zh-CN" dirty="0" smtClean="0"/>
                        <a:t>bug</a:t>
                      </a:r>
                      <a:r>
                        <a:rPr lang="zh-CN" altLang="en-US" dirty="0" smtClean="0"/>
                        <a:t>优化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35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r>
                        <a:rPr lang="zh-CN" altLang="en-US" dirty="0" smtClean="0"/>
                        <a:t>月</a:t>
                      </a:r>
                      <a:r>
                        <a:rPr lang="en-US" altLang="zh-CN" dirty="0" smtClean="0"/>
                        <a:t>25</a:t>
                      </a:r>
                      <a:r>
                        <a:rPr lang="zh-CN" altLang="en-US" dirty="0" smtClean="0"/>
                        <a:t>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交付文档完善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35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r>
                        <a:rPr lang="zh-CN" altLang="en-US" dirty="0" smtClean="0"/>
                        <a:t>月</a:t>
                      </a:r>
                      <a:r>
                        <a:rPr lang="en-US" altLang="zh-CN" dirty="0" smtClean="0"/>
                        <a:t>27</a:t>
                      </a:r>
                      <a:r>
                        <a:rPr lang="zh-CN" altLang="en-US" dirty="0" smtClean="0"/>
                        <a:t>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报表</a:t>
                      </a:r>
                      <a:r>
                        <a:rPr lang="zh-CN" altLang="en-US" dirty="0" smtClean="0"/>
                        <a:t>第二轮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的</a:t>
                      </a:r>
                      <a:r>
                        <a:rPr lang="en-US" altLang="zh-CN" dirty="0" smtClean="0"/>
                        <a:t>bug</a:t>
                      </a:r>
                      <a:r>
                        <a:rPr lang="zh-CN" altLang="en-US" dirty="0" smtClean="0"/>
                        <a:t>优化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355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6756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责任到人活动交付列表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723224"/>
              </p:ext>
            </p:extLst>
          </p:nvPr>
        </p:nvGraphicFramePr>
        <p:xfrm>
          <a:off x="730366" y="1326522"/>
          <a:ext cx="11024315" cy="50958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2175"/>
                <a:gridCol w="1457739"/>
                <a:gridCol w="7394713"/>
                <a:gridCol w="1139688"/>
              </a:tblGrid>
              <a:tr h="449269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责任人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交付期限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交付活动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</a:tr>
              <a:tr h="435540">
                <a:tc rowSpan="8"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荆汉娜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r>
                        <a:rPr lang="zh-CN" altLang="en-US" dirty="0" smtClean="0"/>
                        <a:t>月</a:t>
                      </a:r>
                      <a:r>
                        <a:rPr lang="en-US" altLang="zh-CN" dirty="0" smtClean="0"/>
                        <a:t>12</a:t>
                      </a:r>
                      <a:r>
                        <a:rPr lang="zh-CN" altLang="en-US" dirty="0" smtClean="0"/>
                        <a:t>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、用户画像、用户群画像、设计师画像、产品画像模块第一轮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的</a:t>
                      </a:r>
                      <a:r>
                        <a:rPr lang="en-US" altLang="zh-CN" dirty="0" smtClean="0"/>
                        <a:t>bug</a:t>
                      </a:r>
                      <a:r>
                        <a:rPr lang="zh-CN" altLang="en-US" dirty="0" smtClean="0"/>
                        <a:t>优化</a:t>
                      </a:r>
                    </a:p>
                    <a:p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、舆情、竞品模块</a:t>
                      </a:r>
                      <a:r>
                        <a:rPr lang="en-US" altLang="zh-CN" dirty="0" smtClean="0"/>
                        <a:t>bug</a:t>
                      </a:r>
                      <a:r>
                        <a:rPr lang="zh-CN" altLang="en-US" dirty="0" smtClean="0"/>
                        <a:t>优化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35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r>
                        <a:rPr lang="zh-CN" altLang="en-US" dirty="0" smtClean="0"/>
                        <a:t>月</a:t>
                      </a:r>
                      <a:r>
                        <a:rPr lang="en-US" altLang="zh-CN" dirty="0" smtClean="0"/>
                        <a:t>14</a:t>
                      </a:r>
                      <a:r>
                        <a:rPr lang="zh-CN" altLang="en-US" dirty="0" smtClean="0"/>
                        <a:t>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推荐（无行为用户）模块开发、测试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35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r>
                        <a:rPr lang="zh-CN" altLang="en-US" dirty="0" smtClean="0"/>
                        <a:t>月</a:t>
                      </a:r>
                      <a:r>
                        <a:rPr lang="en-US" altLang="zh-CN" dirty="0" smtClean="0"/>
                        <a:t>17</a:t>
                      </a:r>
                      <a:r>
                        <a:rPr lang="zh-CN" altLang="en-US" dirty="0" smtClean="0"/>
                        <a:t>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、舆情、竞品模块</a:t>
                      </a:r>
                      <a:r>
                        <a:rPr lang="en-US" altLang="zh-CN" dirty="0" err="1" smtClean="0"/>
                        <a:t>UATbug</a:t>
                      </a:r>
                      <a:r>
                        <a:rPr lang="zh-CN" altLang="en-US" dirty="0" smtClean="0"/>
                        <a:t>优化  </a:t>
                      </a:r>
                    </a:p>
                    <a:p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、报表内测</a:t>
                      </a:r>
                      <a:r>
                        <a:rPr lang="en-US" altLang="zh-CN" dirty="0" smtClean="0"/>
                        <a:t>bug</a:t>
                      </a:r>
                      <a:r>
                        <a:rPr lang="zh-CN" altLang="en-US" dirty="0" smtClean="0"/>
                        <a:t>优化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35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r>
                        <a:rPr lang="zh-CN" altLang="en-US" dirty="0" smtClean="0"/>
                        <a:t>月</a:t>
                      </a:r>
                      <a:r>
                        <a:rPr lang="en-US" altLang="zh-CN" dirty="0" smtClean="0"/>
                        <a:t>18</a:t>
                      </a:r>
                      <a:r>
                        <a:rPr lang="zh-CN" altLang="en-US" dirty="0" smtClean="0"/>
                        <a:t>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、用户画像、用户群画像、设计师画像、产品画像模块第二轮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的</a:t>
                      </a:r>
                      <a:r>
                        <a:rPr lang="en-US" altLang="zh-CN" dirty="0" smtClean="0"/>
                        <a:t>bug</a:t>
                      </a:r>
                      <a:r>
                        <a:rPr lang="zh-CN" altLang="en-US" dirty="0" smtClean="0"/>
                        <a:t>优化 </a:t>
                      </a:r>
                    </a:p>
                    <a:p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、推荐模块第一轮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的</a:t>
                      </a:r>
                      <a:r>
                        <a:rPr lang="en-US" altLang="zh-CN" dirty="0" smtClean="0"/>
                        <a:t>bug</a:t>
                      </a:r>
                      <a:r>
                        <a:rPr lang="zh-CN" altLang="en-US" dirty="0" smtClean="0"/>
                        <a:t>优化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35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r>
                        <a:rPr lang="zh-CN" altLang="en-US" dirty="0" smtClean="0"/>
                        <a:t>月</a:t>
                      </a:r>
                      <a:r>
                        <a:rPr lang="en-US" altLang="zh-CN" dirty="0" smtClean="0"/>
                        <a:t>20</a:t>
                      </a:r>
                      <a:r>
                        <a:rPr lang="zh-CN" altLang="en-US" dirty="0" smtClean="0"/>
                        <a:t>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交付文档完善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35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r>
                        <a:rPr lang="zh-CN" altLang="en-US" dirty="0" smtClean="0"/>
                        <a:t>月</a:t>
                      </a:r>
                      <a:r>
                        <a:rPr lang="en-US" altLang="zh-CN" dirty="0" smtClean="0"/>
                        <a:t>21</a:t>
                      </a:r>
                      <a:r>
                        <a:rPr lang="zh-CN" altLang="en-US" dirty="0" smtClean="0"/>
                        <a:t>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报表第一轮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的</a:t>
                      </a:r>
                      <a:r>
                        <a:rPr lang="en-US" altLang="zh-CN" dirty="0" smtClean="0"/>
                        <a:t>bug</a:t>
                      </a:r>
                      <a:r>
                        <a:rPr lang="zh-CN" altLang="en-US" dirty="0" smtClean="0"/>
                        <a:t>优化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355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7</a:t>
                      </a:r>
                      <a:r>
                        <a:rPr lang="zh-CN" altLang="en-US" dirty="0" smtClean="0"/>
                        <a:t>月</a:t>
                      </a:r>
                      <a:r>
                        <a:rPr lang="en-US" altLang="zh-CN" dirty="0" smtClean="0"/>
                        <a:t>25</a:t>
                      </a:r>
                      <a:r>
                        <a:rPr lang="zh-CN" altLang="en-US" dirty="0" smtClean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交付文档完善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3554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7</a:t>
                      </a:r>
                      <a:r>
                        <a:rPr lang="zh-CN" altLang="en-US" dirty="0" smtClean="0"/>
                        <a:t>月</a:t>
                      </a:r>
                      <a:r>
                        <a:rPr lang="en-US" altLang="zh-CN" dirty="0" smtClean="0"/>
                        <a:t>27</a:t>
                      </a:r>
                      <a:r>
                        <a:rPr lang="zh-CN" altLang="en-US" dirty="0" smtClean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报表第二轮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的</a:t>
                      </a:r>
                      <a:r>
                        <a:rPr lang="en-US" altLang="zh-CN" dirty="0" smtClean="0"/>
                        <a:t>bug</a:t>
                      </a:r>
                      <a:r>
                        <a:rPr lang="zh-CN" altLang="en-US" dirty="0" smtClean="0"/>
                        <a:t>优化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3213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责任到人活动交付列表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755939"/>
              </p:ext>
            </p:extLst>
          </p:nvPr>
        </p:nvGraphicFramePr>
        <p:xfrm>
          <a:off x="730366" y="1326522"/>
          <a:ext cx="11024315" cy="1755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2175"/>
                <a:gridCol w="1457739"/>
                <a:gridCol w="7394713"/>
                <a:gridCol w="1139688"/>
              </a:tblGrid>
              <a:tr h="449269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责任人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交付期限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交付活动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</a:tr>
              <a:tr h="435540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宋淑娟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r>
                        <a:rPr lang="zh-CN" altLang="en-US" dirty="0" smtClean="0"/>
                        <a:t>月</a:t>
                      </a:r>
                      <a:r>
                        <a:rPr lang="en-US" altLang="zh-CN" dirty="0" smtClean="0"/>
                        <a:t>12</a:t>
                      </a:r>
                      <a:r>
                        <a:rPr lang="zh-CN" altLang="en-US" dirty="0" smtClean="0"/>
                        <a:t>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报表（</a:t>
                      </a:r>
                      <a:r>
                        <a:rPr lang="en-US" altLang="zh-CN" dirty="0" smtClean="0"/>
                        <a:t>14</a:t>
                      </a:r>
                      <a:r>
                        <a:rPr lang="zh-CN" altLang="en-US" dirty="0" smtClean="0"/>
                        <a:t>张）内测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35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r>
                        <a:rPr lang="zh-CN" altLang="en-US" dirty="0" smtClean="0"/>
                        <a:t>月</a:t>
                      </a:r>
                      <a:r>
                        <a:rPr lang="en-US" altLang="zh-CN" dirty="0" smtClean="0"/>
                        <a:t>25</a:t>
                      </a:r>
                      <a:r>
                        <a:rPr lang="zh-CN" altLang="en-US" dirty="0" smtClean="0"/>
                        <a:t>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交付文档完善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35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162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责任到人活动交付列表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936544"/>
              </p:ext>
            </p:extLst>
          </p:nvPr>
        </p:nvGraphicFramePr>
        <p:xfrm>
          <a:off x="730366" y="1326522"/>
          <a:ext cx="11024315" cy="4020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2175"/>
                <a:gridCol w="1457739"/>
                <a:gridCol w="7394713"/>
                <a:gridCol w="1139688"/>
              </a:tblGrid>
              <a:tr h="449269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责任人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交付期限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交付活动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</a:tr>
              <a:tr h="435540">
                <a:tc rowSpan="6"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邹晓慧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r>
                        <a:rPr lang="zh-CN" altLang="en-US" dirty="0" smtClean="0"/>
                        <a:t>月</a:t>
                      </a:r>
                      <a:r>
                        <a:rPr lang="en-US" altLang="zh-CN" dirty="0" smtClean="0"/>
                        <a:t>14</a:t>
                      </a:r>
                      <a:r>
                        <a:rPr lang="zh-CN" altLang="en-US" dirty="0" smtClean="0"/>
                        <a:t>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、用户画像、用户群画像、设计师画像、产品画像模块第二轮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测试及结果反馈 </a:t>
                      </a:r>
                    </a:p>
                    <a:p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、舆情、竞品模块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测试及结果反馈                                       </a:t>
                      </a:r>
                    </a:p>
                    <a:p>
                      <a:r>
                        <a:rPr lang="en-US" altLang="zh-CN" dirty="0" smtClean="0"/>
                        <a:t>3</a:t>
                      </a:r>
                      <a:r>
                        <a:rPr lang="zh-CN" altLang="en-US" dirty="0" smtClean="0"/>
                        <a:t>、推荐（有行为用户）模块第一轮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测试及结果反馈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35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r>
                        <a:rPr lang="zh-CN" altLang="en-US" dirty="0" smtClean="0"/>
                        <a:t>月</a:t>
                      </a:r>
                      <a:r>
                        <a:rPr lang="en-US" altLang="zh-CN" dirty="0" smtClean="0"/>
                        <a:t>18</a:t>
                      </a:r>
                      <a:r>
                        <a:rPr lang="zh-CN" altLang="en-US" dirty="0" smtClean="0"/>
                        <a:t>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推荐（无行为用户）模块第一轮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测试及结果反馈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35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r>
                        <a:rPr lang="zh-CN" altLang="en-US" dirty="0" smtClean="0"/>
                        <a:t>月</a:t>
                      </a:r>
                      <a:r>
                        <a:rPr lang="en-US" altLang="zh-CN" dirty="0" smtClean="0"/>
                        <a:t>19</a:t>
                      </a:r>
                      <a:r>
                        <a:rPr lang="zh-CN" altLang="en-US" dirty="0" smtClean="0"/>
                        <a:t>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、推荐模块第二轮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测试及结果反馈 </a:t>
                      </a:r>
                    </a:p>
                    <a:p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、报表第一轮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测试及反馈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35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r>
                        <a:rPr lang="zh-CN" altLang="en-US" dirty="0" smtClean="0"/>
                        <a:t>月</a:t>
                      </a:r>
                      <a:r>
                        <a:rPr lang="en-US" altLang="zh-CN" dirty="0" smtClean="0"/>
                        <a:t>25</a:t>
                      </a:r>
                      <a:r>
                        <a:rPr lang="zh-CN" altLang="en-US" dirty="0" smtClean="0"/>
                        <a:t>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报表第二轮</a:t>
                      </a:r>
                      <a:r>
                        <a:rPr lang="en-US" altLang="zh-CN" dirty="0" smtClean="0"/>
                        <a:t>UAT</a:t>
                      </a:r>
                      <a:r>
                        <a:rPr lang="zh-CN" altLang="en-US" dirty="0" smtClean="0"/>
                        <a:t>测试及反馈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35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r>
                        <a:rPr lang="zh-CN" altLang="en-US" dirty="0" smtClean="0"/>
                        <a:t>月</a:t>
                      </a:r>
                      <a:r>
                        <a:rPr lang="en-US" altLang="zh-CN" dirty="0" smtClean="0"/>
                        <a:t>28</a:t>
                      </a:r>
                      <a:r>
                        <a:rPr lang="zh-CN" altLang="en-US" dirty="0" smtClean="0"/>
                        <a:t>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发起上线流程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35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2517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责任到人活动交付列表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993072"/>
              </p:ext>
            </p:extLst>
          </p:nvPr>
        </p:nvGraphicFramePr>
        <p:xfrm>
          <a:off x="730366" y="1326522"/>
          <a:ext cx="11024315" cy="13203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2175"/>
                <a:gridCol w="1457739"/>
                <a:gridCol w="7394713"/>
                <a:gridCol w="1139688"/>
              </a:tblGrid>
              <a:tr h="449269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责任人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交付期限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交付活动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</a:tr>
              <a:tr h="43554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卢谨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刘向伦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r>
                        <a:rPr lang="zh-CN" altLang="en-US" dirty="0" smtClean="0"/>
                        <a:t>月</a:t>
                      </a:r>
                      <a:r>
                        <a:rPr lang="en-US" altLang="zh-CN" dirty="0" smtClean="0"/>
                        <a:t>28</a:t>
                      </a:r>
                      <a:r>
                        <a:rPr lang="zh-CN" altLang="en-US" dirty="0" smtClean="0"/>
                        <a:t>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发起上线流程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355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124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DIY</a:t>
            </a:r>
          </a:p>
        </p:txBody>
      </p:sp>
      <p:sp>
        <p:nvSpPr>
          <p:cNvPr id="3" name="矩形 2"/>
          <p:cNvSpPr/>
          <p:nvPr/>
        </p:nvSpPr>
        <p:spPr>
          <a:xfrm>
            <a:off x="2703830" y="2829560"/>
            <a:ext cx="6205855" cy="1198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THANKS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jeff1">
      <a:majorFont>
        <a:latin typeface="Segoe UI Light"/>
        <a:ea typeface="黑体"/>
        <a:cs typeface=""/>
      </a:majorFont>
      <a:minorFont>
        <a:latin typeface="Segoe UI Light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1135</TotalTime>
  <Words>827</Words>
  <Application>Microsoft Office PowerPoint</Application>
  <PresentationFormat>宽屏</PresentationFormat>
  <Paragraphs>203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黑体</vt:lpstr>
      <vt:lpstr>微软雅黑</vt:lpstr>
      <vt:lpstr>Arial</vt:lpstr>
      <vt:lpstr>Segoe UI Light</vt:lpstr>
      <vt:lpstr>Office 主题​​</vt:lpstr>
      <vt:lpstr>Haier用户定制应用分析支持项目 上线详细计划</vt:lpstr>
      <vt:lpstr>项目上线活动清单</vt:lpstr>
      <vt:lpstr>项目上线活动清单</vt:lpstr>
      <vt:lpstr>上线计划甘特图</vt:lpstr>
      <vt:lpstr>责任到人活动交付列表</vt:lpstr>
      <vt:lpstr>责任到人活动交付列表</vt:lpstr>
      <vt:lpstr>责任到人活动交付列表</vt:lpstr>
      <vt:lpstr>责任到人活动交付列表</vt:lpstr>
      <vt:lpstr>责任到人活动交付列表</vt:lpstr>
      <vt:lpstr>DIY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jeffzhu4</dc:creator>
  <cp:lastModifiedBy>Eric.liu</cp:lastModifiedBy>
  <cp:revision>964</cp:revision>
  <dcterms:created xsi:type="dcterms:W3CDTF">2016-03-15T12:24:00Z</dcterms:created>
  <dcterms:modified xsi:type="dcterms:W3CDTF">2017-07-10T10:09:26Z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2052-10.1.0.6554</vt:lpwstr>
  </property>
</Properties>
</file>